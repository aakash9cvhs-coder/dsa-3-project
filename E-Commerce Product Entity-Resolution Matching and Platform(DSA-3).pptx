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57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C4E"/>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6C4CE0"/>
          </a:solidFill>
          <a:ln/>
        </p:spPr>
      </p:sp>
      <p:sp>
        <p:nvSpPr>
          <p:cNvPr id="5" name="Shape 3"/>
          <p:cNvSpPr/>
          <p:nvPr/>
        </p:nvSpPr>
        <p:spPr>
          <a:xfrm>
            <a:off x="548640" y="2331720"/>
            <a:ext cx="777240" cy="777240"/>
          </a:xfrm>
          <a:prstGeom prst="ellipse">
            <a:avLst/>
          </a:prstGeom>
          <a:ln w="25400">
            <a:solidFill>
              <a:srgbClr val="FFFFFF"/>
            </a:solidFill>
            <a:prstDash val="solid"/>
          </a:ln>
        </p:spPr>
      </p:sp>
      <p:sp>
        <p:nvSpPr>
          <p:cNvPr id="6" name="Shape 4"/>
          <p:cNvSpPr/>
          <p:nvPr/>
        </p:nvSpPr>
        <p:spPr>
          <a:xfrm>
            <a:off x="1417320" y="2011680"/>
            <a:ext cx="777240" cy="777240"/>
          </a:xfrm>
          <a:prstGeom prst="ellipse">
            <a:avLst/>
          </a:prstGeom>
          <a:ln w="25400">
            <a:solidFill>
              <a:srgbClr val="FFFFFF"/>
            </a:solidFill>
            <a:prstDash val="solid"/>
          </a:ln>
        </p:spPr>
      </p:sp>
      <p:sp>
        <p:nvSpPr>
          <p:cNvPr id="7" name="Shape 5"/>
          <p:cNvSpPr/>
          <p:nvPr/>
        </p:nvSpPr>
        <p:spPr>
          <a:xfrm>
            <a:off x="960120" y="3063240"/>
            <a:ext cx="777240" cy="777240"/>
          </a:xfrm>
          <a:prstGeom prst="ellipse">
            <a:avLst/>
          </a:prstGeom>
          <a:ln w="25400">
            <a:solidFill>
              <a:srgbClr val="FFFFFF"/>
            </a:solidFill>
            <a:prstDash val="solid"/>
          </a:ln>
        </p:spPr>
      </p:sp>
      <p:sp>
        <p:nvSpPr>
          <p:cNvPr id="8" name="Text 6"/>
          <p:cNvSpPr/>
          <p:nvPr/>
        </p:nvSpPr>
        <p:spPr>
          <a:xfrm>
            <a:off x="2148840" y="2514600"/>
            <a:ext cx="502920" cy="502920"/>
          </a:xfrm>
          <a:prstGeom prst="rect">
            <a:avLst/>
          </a:prstGeom>
          <a:noFill/>
          <a:ln/>
        </p:spPr>
        <p:txBody>
          <a:bodyPr wrap="square" rtlCol="0" anchor="ctr"/>
          <a:lstStyle/>
          <a:p>
            <a:pPr marL="0" indent="0" algn="ctr">
              <a:buNone/>
            </a:pPr>
            <a:r>
              <a:rPr lang="en-US" sz="2000" dirty="0">
                <a:solidFill>
                  <a:srgbClr val="D9CCFF"/>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743200" y="2423160"/>
            <a:ext cx="960120" cy="960120"/>
          </a:xfrm>
          <a:prstGeom prst="ellipse">
            <a:avLst/>
          </a:prstGeom>
          <a:solidFill>
            <a:srgbClr val="00D4C8"/>
          </a:solidFill>
          <a:ln/>
        </p:spPr>
      </p:sp>
      <p:sp>
        <p:nvSpPr>
          <p:cNvPr id="10" name="Text 8"/>
          <p:cNvSpPr/>
          <p:nvPr/>
        </p:nvSpPr>
        <p:spPr>
          <a:xfrm>
            <a:off x="4754880" y="1371600"/>
            <a:ext cx="6675120" cy="365760"/>
          </a:xfrm>
          <a:prstGeom prst="rect">
            <a:avLst/>
          </a:prstGeom>
          <a:noFill/>
          <a:ln/>
        </p:spPr>
        <p:txBody>
          <a:bodyPr wrap="square" rtlCol="0" anchor="ctr"/>
          <a:lstStyle/>
          <a:p>
            <a:pPr marL="0" indent="0">
              <a:buNone/>
            </a:pPr>
            <a:r>
              <a:rPr lang="en-US" sz="1400" b="1" kern="0" spc="300" dirty="0">
                <a:solidFill>
                  <a:srgbClr val="00D4C8"/>
                </a:solidFill>
                <a:latin typeface="Arial" pitchFamily="34" charset="0"/>
                <a:ea typeface="Arial" pitchFamily="34" charset="-122"/>
                <a:cs typeface="Arial" pitchFamily="34" charset="-120"/>
              </a:rPr>
              <a:t>DSA-3 PROJECT</a:t>
            </a:r>
            <a:endParaRPr lang="en-US" sz="1400" dirty="0"/>
          </a:p>
        </p:txBody>
      </p:sp>
      <p:sp>
        <p:nvSpPr>
          <p:cNvPr id="11" name="Text 9"/>
          <p:cNvSpPr/>
          <p:nvPr/>
        </p:nvSpPr>
        <p:spPr>
          <a:xfrm>
            <a:off x="4754880" y="1737360"/>
            <a:ext cx="6949440" cy="2286000"/>
          </a:xfrm>
          <a:prstGeom prst="rect">
            <a:avLst/>
          </a:prstGeom>
          <a:noFill/>
          <a:ln/>
        </p:spPr>
        <p:txBody>
          <a:bodyPr wrap="square" rtlCol="0" anchor="ctr"/>
          <a:lstStyle/>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E-Commerce Product</a:t>
            </a:r>
            <a:endParaRPr lang="en-US" sz="3600" dirty="0"/>
          </a:p>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Entity-Resolution &amp;</a:t>
            </a:r>
            <a:endParaRPr lang="en-US" sz="3600" dirty="0"/>
          </a:p>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Matching Platform</a:t>
            </a:r>
            <a:endParaRPr lang="en-US" sz="3600" dirty="0"/>
          </a:p>
        </p:txBody>
      </p:sp>
      <p:sp>
        <p:nvSpPr>
          <p:cNvPr id="12" name="Text 10"/>
          <p:cNvSpPr/>
          <p:nvPr/>
        </p:nvSpPr>
        <p:spPr>
          <a:xfrm>
            <a:off x="4754880" y="4114800"/>
            <a:ext cx="6583680" cy="640080"/>
          </a:xfrm>
          <a:prstGeom prst="rect">
            <a:avLst/>
          </a:prstGeom>
          <a:noFill/>
          <a:ln/>
        </p:spPr>
        <p:txBody>
          <a:bodyPr wrap="square" rtlCol="0" anchor="ctr"/>
          <a:lstStyle/>
          <a:p>
            <a:pPr marL="0" indent="0">
              <a:buNone/>
            </a:pPr>
            <a:r>
              <a:rPr lang="en-US" sz="1400" i="1" dirty="0">
                <a:solidFill>
                  <a:srgbClr val="D6CFF0"/>
                </a:solidFill>
                <a:latin typeface="Arial" pitchFamily="34" charset="0"/>
                <a:ea typeface="Arial" pitchFamily="34" charset="-122"/>
                <a:cs typeface="Arial" pitchFamily="34" charset="-120"/>
              </a:rPr>
              <a:t>Helping shoppers find the same product from different sellers, so they can compare prices easily.</a:t>
            </a:r>
            <a:endParaRPr lang="en-US" sz="1400" dirty="0"/>
          </a:p>
        </p:txBody>
      </p:sp>
      <p:sp>
        <p:nvSpPr>
          <p:cNvPr id="13" name="Text 11"/>
          <p:cNvSpPr/>
          <p:nvPr/>
        </p:nvSpPr>
        <p:spPr>
          <a:xfrm>
            <a:off x="4754880" y="5029200"/>
            <a:ext cx="6675120" cy="6400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Rayabharapu Pranav  </a:t>
            </a:r>
            <a:r>
              <a:rPr lang="en-US" sz="1200" dirty="0">
                <a:solidFill>
                  <a:srgbClr val="D6CFF0"/>
                </a:solidFill>
                <a:latin typeface="Arial" pitchFamily="34" charset="0"/>
                <a:ea typeface="Arial" pitchFamily="34" charset="-122"/>
                <a:cs typeface="Arial" pitchFamily="34" charset="-120"/>
              </a:rPr>
              <a:t>· 2520090109
</a:t>
            </a:r>
            <a:r>
              <a:rPr lang="en-US" sz="1200" b="1" dirty="0">
                <a:solidFill>
                  <a:srgbClr val="FFFFFF"/>
                </a:solidFill>
                <a:latin typeface="Arial" pitchFamily="34" charset="0"/>
                <a:ea typeface="Arial" pitchFamily="34" charset="-122"/>
                <a:cs typeface="Arial" pitchFamily="34" charset="-120"/>
              </a:rPr>
              <a:t>Burramukku Aakash  </a:t>
            </a:r>
            <a:r>
              <a:rPr lang="en-US" sz="1200" dirty="0">
                <a:solidFill>
                  <a:srgbClr val="D6CFF0"/>
                </a:solidFill>
                <a:latin typeface="Arial" pitchFamily="34" charset="0"/>
                <a:ea typeface="Arial" pitchFamily="34" charset="-122"/>
                <a:cs typeface="Arial" pitchFamily="34" charset="-120"/>
              </a:rPr>
              <a:t>· 2520080039</a:t>
            </a:r>
            <a:endParaRPr lang="en-US" sz="1200" dirty="0"/>
          </a:p>
        </p:txBody>
      </p:sp>
      <p:sp>
        <p:nvSpPr>
          <p:cNvPr id="14" name="Text 12"/>
          <p:cNvSpPr/>
          <p:nvPr/>
        </p:nvSpPr>
        <p:spPr>
          <a:xfrm>
            <a:off x="4754880" y="5806440"/>
            <a:ext cx="6858000" cy="640080"/>
          </a:xfrm>
          <a:prstGeom prst="rect">
            <a:avLst/>
          </a:prstGeom>
          <a:noFill/>
          <a:ln/>
        </p:spPr>
        <p:txBody>
          <a:bodyPr wrap="square" rtlCol="0" anchor="ctr"/>
          <a:lstStyle/>
          <a:p>
            <a:pPr marL="0" indent="0">
              <a:buNone/>
            </a:pPr>
            <a:r>
              <a:rPr lang="en-US" sz="1100" dirty="0">
                <a:solidFill>
                  <a:srgbClr val="B3A6D9"/>
                </a:solidFill>
                <a:latin typeface="Arial" pitchFamily="34" charset="0"/>
                <a:ea typeface="Arial" pitchFamily="34" charset="-122"/>
                <a:cs typeface="Arial" pitchFamily="34" charset="-120"/>
              </a:rPr>
              <a:t>Team 7 · Section 10  |  Guide: Ms. K. Chandusha, Asst. Prof., CS&amp;IT</a:t>
            </a:r>
            <a:endParaRPr lang="en-US" sz="1100" dirty="0"/>
          </a:p>
          <a:p>
            <a:pPr marL="0" indent="0">
              <a:buNone/>
            </a:pPr>
            <a:r>
              <a:rPr lang="en-US" sz="1100" dirty="0">
                <a:solidFill>
                  <a:srgbClr val="B3A6D9"/>
                </a:solidFill>
                <a:latin typeface="Arial" pitchFamily="34" charset="0"/>
                <a:ea typeface="Arial" pitchFamily="34" charset="-122"/>
                <a:cs typeface="Arial" pitchFamily="34" charset="-120"/>
              </a:rPr>
              <a:t>Data Structures and Algorithms-3 (25CS2103E)  |  A.Y.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OVERVIEW</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What We'll Cover</a:t>
            </a:r>
            <a:endParaRPr lang="en-US" sz="3000" dirty="0"/>
          </a:p>
        </p:txBody>
      </p:sp>
      <p:sp>
        <p:nvSpPr>
          <p:cNvPr id="4" name="Shape 2"/>
          <p:cNvSpPr/>
          <p:nvPr/>
        </p:nvSpPr>
        <p:spPr>
          <a:xfrm>
            <a:off x="640080" y="1874520"/>
            <a:ext cx="3429000" cy="1417320"/>
          </a:xfrm>
          <a:prstGeom prst="roundRect">
            <a:avLst>
              <a:gd name="adj" fmla="val 5161"/>
            </a:avLst>
          </a:prstGeom>
          <a:solidFill>
            <a:srgbClr val="F4F2FB"/>
          </a:solidFill>
          <a:ln/>
        </p:spPr>
      </p:sp>
      <p:sp>
        <p:nvSpPr>
          <p:cNvPr id="5" name="Shape 3"/>
          <p:cNvSpPr/>
          <p:nvPr/>
        </p:nvSpPr>
        <p:spPr>
          <a:xfrm>
            <a:off x="868680" y="2057400"/>
            <a:ext cx="502920" cy="502920"/>
          </a:xfrm>
          <a:prstGeom prst="ellipse">
            <a:avLst/>
          </a:prstGeom>
          <a:solidFill>
            <a:srgbClr val="241C4E"/>
          </a:solidFill>
          <a:ln/>
        </p:spPr>
      </p:sp>
      <p:sp>
        <p:nvSpPr>
          <p:cNvPr id="6" name="Text 4"/>
          <p:cNvSpPr/>
          <p:nvPr/>
        </p:nvSpPr>
        <p:spPr>
          <a:xfrm>
            <a:off x="868680" y="205740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7" name="Text 5"/>
          <p:cNvSpPr/>
          <p:nvPr/>
        </p:nvSpPr>
        <p:spPr>
          <a:xfrm>
            <a:off x="868680" y="266090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Introduction</a:t>
            </a:r>
            <a:endParaRPr lang="en-US" sz="1450" dirty="0"/>
          </a:p>
        </p:txBody>
      </p:sp>
      <p:sp>
        <p:nvSpPr>
          <p:cNvPr id="8" name="Text 6"/>
          <p:cNvSpPr/>
          <p:nvPr/>
        </p:nvSpPr>
        <p:spPr>
          <a:xfrm>
            <a:off x="868680" y="297180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Why the same product looks different on every website</a:t>
            </a:r>
            <a:endParaRPr lang="en-US" sz="1050" dirty="0"/>
          </a:p>
        </p:txBody>
      </p:sp>
      <p:sp>
        <p:nvSpPr>
          <p:cNvPr id="9" name="Shape 7"/>
          <p:cNvSpPr/>
          <p:nvPr/>
        </p:nvSpPr>
        <p:spPr>
          <a:xfrm>
            <a:off x="4325112" y="1874520"/>
            <a:ext cx="3429000" cy="1417320"/>
          </a:xfrm>
          <a:prstGeom prst="roundRect">
            <a:avLst>
              <a:gd name="adj" fmla="val 5161"/>
            </a:avLst>
          </a:prstGeom>
          <a:solidFill>
            <a:srgbClr val="F4F2FB"/>
          </a:solidFill>
          <a:ln/>
        </p:spPr>
      </p:sp>
      <p:sp>
        <p:nvSpPr>
          <p:cNvPr id="10" name="Shape 8"/>
          <p:cNvSpPr/>
          <p:nvPr/>
        </p:nvSpPr>
        <p:spPr>
          <a:xfrm>
            <a:off x="4553712" y="2057400"/>
            <a:ext cx="502920" cy="502920"/>
          </a:xfrm>
          <a:prstGeom prst="ellipse">
            <a:avLst/>
          </a:prstGeom>
          <a:solidFill>
            <a:srgbClr val="241C4E"/>
          </a:solidFill>
          <a:ln/>
        </p:spPr>
      </p:sp>
      <p:sp>
        <p:nvSpPr>
          <p:cNvPr id="11" name="Text 9"/>
          <p:cNvSpPr/>
          <p:nvPr/>
        </p:nvSpPr>
        <p:spPr>
          <a:xfrm>
            <a:off x="4553712" y="205740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4553712" y="266090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Abstract</a:t>
            </a:r>
            <a:endParaRPr lang="en-US" sz="1450" dirty="0"/>
          </a:p>
        </p:txBody>
      </p:sp>
      <p:sp>
        <p:nvSpPr>
          <p:cNvPr id="13" name="Text 11"/>
          <p:cNvSpPr/>
          <p:nvPr/>
        </p:nvSpPr>
        <p:spPr>
          <a:xfrm>
            <a:off x="4553712" y="297180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A short summary of what our project does</a:t>
            </a:r>
            <a:endParaRPr lang="en-US" sz="1050" dirty="0"/>
          </a:p>
        </p:txBody>
      </p:sp>
      <p:sp>
        <p:nvSpPr>
          <p:cNvPr id="14" name="Shape 12"/>
          <p:cNvSpPr/>
          <p:nvPr/>
        </p:nvSpPr>
        <p:spPr>
          <a:xfrm>
            <a:off x="8010144" y="1874520"/>
            <a:ext cx="3429000" cy="1417320"/>
          </a:xfrm>
          <a:prstGeom prst="roundRect">
            <a:avLst>
              <a:gd name="adj" fmla="val 5161"/>
            </a:avLst>
          </a:prstGeom>
          <a:solidFill>
            <a:srgbClr val="F4F2FB"/>
          </a:solidFill>
          <a:ln/>
        </p:spPr>
      </p:sp>
      <p:sp>
        <p:nvSpPr>
          <p:cNvPr id="15" name="Shape 13"/>
          <p:cNvSpPr/>
          <p:nvPr/>
        </p:nvSpPr>
        <p:spPr>
          <a:xfrm>
            <a:off x="8238744" y="2057400"/>
            <a:ext cx="502920" cy="502920"/>
          </a:xfrm>
          <a:prstGeom prst="ellipse">
            <a:avLst/>
          </a:prstGeom>
          <a:solidFill>
            <a:srgbClr val="241C4E"/>
          </a:solidFill>
          <a:ln/>
        </p:spPr>
      </p:sp>
      <p:sp>
        <p:nvSpPr>
          <p:cNvPr id="16" name="Text 14"/>
          <p:cNvSpPr/>
          <p:nvPr/>
        </p:nvSpPr>
        <p:spPr>
          <a:xfrm>
            <a:off x="8238744" y="205740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8238744" y="266090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Software Requirements</a:t>
            </a:r>
            <a:endParaRPr lang="en-US" sz="1450" dirty="0"/>
          </a:p>
        </p:txBody>
      </p:sp>
      <p:sp>
        <p:nvSpPr>
          <p:cNvPr id="18" name="Text 16"/>
          <p:cNvSpPr/>
          <p:nvPr/>
        </p:nvSpPr>
        <p:spPr>
          <a:xfrm>
            <a:off x="8238744" y="297180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The tools and programs we used to build it</a:t>
            </a:r>
            <a:endParaRPr lang="en-US" sz="1050" dirty="0"/>
          </a:p>
        </p:txBody>
      </p:sp>
      <p:sp>
        <p:nvSpPr>
          <p:cNvPr id="19" name="Shape 17"/>
          <p:cNvSpPr/>
          <p:nvPr/>
        </p:nvSpPr>
        <p:spPr>
          <a:xfrm>
            <a:off x="640080" y="3520440"/>
            <a:ext cx="3429000" cy="1417320"/>
          </a:xfrm>
          <a:prstGeom prst="roundRect">
            <a:avLst>
              <a:gd name="adj" fmla="val 5161"/>
            </a:avLst>
          </a:prstGeom>
          <a:solidFill>
            <a:srgbClr val="F4F2FB"/>
          </a:solidFill>
          <a:ln/>
        </p:spPr>
      </p:sp>
      <p:sp>
        <p:nvSpPr>
          <p:cNvPr id="20" name="Shape 18"/>
          <p:cNvSpPr/>
          <p:nvPr/>
        </p:nvSpPr>
        <p:spPr>
          <a:xfrm>
            <a:off x="868680" y="3703320"/>
            <a:ext cx="502920" cy="502920"/>
          </a:xfrm>
          <a:prstGeom prst="ellipse">
            <a:avLst/>
          </a:prstGeom>
          <a:solidFill>
            <a:srgbClr val="241C4E"/>
          </a:solidFill>
          <a:ln/>
        </p:spPr>
      </p:sp>
      <p:sp>
        <p:nvSpPr>
          <p:cNvPr id="21" name="Text 19"/>
          <p:cNvSpPr/>
          <p:nvPr/>
        </p:nvSpPr>
        <p:spPr>
          <a:xfrm>
            <a:off x="868680" y="370332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868680" y="430682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Hardware Requirements</a:t>
            </a:r>
            <a:endParaRPr lang="en-US" sz="1450" dirty="0"/>
          </a:p>
        </p:txBody>
      </p:sp>
      <p:sp>
        <p:nvSpPr>
          <p:cNvPr id="23" name="Text 21"/>
          <p:cNvSpPr/>
          <p:nvPr/>
        </p:nvSpPr>
        <p:spPr>
          <a:xfrm>
            <a:off x="868680" y="461772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The computer setup needed to run it</a:t>
            </a:r>
            <a:endParaRPr lang="en-US" sz="1050" dirty="0"/>
          </a:p>
        </p:txBody>
      </p:sp>
      <p:sp>
        <p:nvSpPr>
          <p:cNvPr id="24" name="Shape 22"/>
          <p:cNvSpPr/>
          <p:nvPr/>
        </p:nvSpPr>
        <p:spPr>
          <a:xfrm>
            <a:off x="4325112" y="3520440"/>
            <a:ext cx="3429000" cy="1417320"/>
          </a:xfrm>
          <a:prstGeom prst="roundRect">
            <a:avLst>
              <a:gd name="adj" fmla="val 5161"/>
            </a:avLst>
          </a:prstGeom>
          <a:solidFill>
            <a:srgbClr val="F4F2FB"/>
          </a:solidFill>
          <a:ln/>
        </p:spPr>
      </p:sp>
      <p:sp>
        <p:nvSpPr>
          <p:cNvPr id="25" name="Shape 23"/>
          <p:cNvSpPr/>
          <p:nvPr/>
        </p:nvSpPr>
        <p:spPr>
          <a:xfrm>
            <a:off x="4553712" y="3703320"/>
            <a:ext cx="502920" cy="502920"/>
          </a:xfrm>
          <a:prstGeom prst="ellipse">
            <a:avLst/>
          </a:prstGeom>
          <a:solidFill>
            <a:srgbClr val="241C4E"/>
          </a:solidFill>
          <a:ln/>
        </p:spPr>
      </p:sp>
      <p:sp>
        <p:nvSpPr>
          <p:cNvPr id="26" name="Text 24"/>
          <p:cNvSpPr/>
          <p:nvPr/>
        </p:nvSpPr>
        <p:spPr>
          <a:xfrm>
            <a:off x="4553712" y="370332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4553712" y="430682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Methodology</a:t>
            </a:r>
            <a:endParaRPr lang="en-US" sz="1450" dirty="0"/>
          </a:p>
        </p:txBody>
      </p:sp>
      <p:sp>
        <p:nvSpPr>
          <p:cNvPr id="28" name="Text 26"/>
          <p:cNvSpPr/>
          <p:nvPr/>
        </p:nvSpPr>
        <p:spPr>
          <a:xfrm>
            <a:off x="4553712" y="461772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The steps we follow to match products</a:t>
            </a:r>
            <a:endParaRPr lang="en-US" sz="1050" dirty="0"/>
          </a:p>
        </p:txBody>
      </p:sp>
      <p:sp>
        <p:nvSpPr>
          <p:cNvPr id="29" name="Shape 27"/>
          <p:cNvSpPr/>
          <p:nvPr/>
        </p:nvSpPr>
        <p:spPr>
          <a:xfrm>
            <a:off x="8010144" y="3520440"/>
            <a:ext cx="3429000" cy="1417320"/>
          </a:xfrm>
          <a:prstGeom prst="roundRect">
            <a:avLst>
              <a:gd name="adj" fmla="val 5161"/>
            </a:avLst>
          </a:prstGeom>
          <a:solidFill>
            <a:srgbClr val="F4F2FB"/>
          </a:solidFill>
          <a:ln/>
        </p:spPr>
      </p:sp>
      <p:sp>
        <p:nvSpPr>
          <p:cNvPr id="30" name="Shape 28"/>
          <p:cNvSpPr/>
          <p:nvPr/>
        </p:nvSpPr>
        <p:spPr>
          <a:xfrm>
            <a:off x="8238744" y="3703320"/>
            <a:ext cx="502920" cy="502920"/>
          </a:xfrm>
          <a:prstGeom prst="ellipse">
            <a:avLst/>
          </a:prstGeom>
          <a:solidFill>
            <a:srgbClr val="241C4E"/>
          </a:solidFill>
          <a:ln/>
        </p:spPr>
      </p:sp>
      <p:sp>
        <p:nvSpPr>
          <p:cNvPr id="31" name="Text 29"/>
          <p:cNvSpPr/>
          <p:nvPr/>
        </p:nvSpPr>
        <p:spPr>
          <a:xfrm>
            <a:off x="8238744" y="3703320"/>
            <a:ext cx="502920" cy="502920"/>
          </a:xfrm>
          <a:prstGeom prst="rect">
            <a:avLst/>
          </a:prstGeom>
          <a:noFill/>
          <a:ln/>
        </p:spPr>
        <p:txBody>
          <a:bodyPr wrap="square"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2" name="Text 30"/>
          <p:cNvSpPr/>
          <p:nvPr/>
        </p:nvSpPr>
        <p:spPr>
          <a:xfrm>
            <a:off x="8238744" y="4306824"/>
            <a:ext cx="2971800" cy="365760"/>
          </a:xfrm>
          <a:prstGeom prst="rect">
            <a:avLst/>
          </a:prstGeom>
          <a:noFill/>
          <a:ln/>
        </p:spPr>
        <p:txBody>
          <a:bodyPr wrap="square" rtlCol="0" anchor="ctr"/>
          <a:lstStyle/>
          <a:p>
            <a:pPr marL="0" indent="0">
              <a:buNone/>
            </a:pPr>
            <a:r>
              <a:rPr lang="en-US" sz="1450" b="1" dirty="0">
                <a:solidFill>
                  <a:srgbClr val="241C4E"/>
                </a:solidFill>
                <a:latin typeface="Arial" pitchFamily="34" charset="0"/>
                <a:ea typeface="Arial" pitchFamily="34" charset="-122"/>
                <a:cs typeface="Arial" pitchFamily="34" charset="-120"/>
              </a:rPr>
              <a:t>Literature Survey</a:t>
            </a:r>
            <a:endParaRPr lang="en-US" sz="1450" dirty="0"/>
          </a:p>
        </p:txBody>
      </p:sp>
      <p:sp>
        <p:nvSpPr>
          <p:cNvPr id="33" name="Text 31"/>
          <p:cNvSpPr/>
          <p:nvPr/>
        </p:nvSpPr>
        <p:spPr>
          <a:xfrm>
            <a:off x="8238744" y="4617720"/>
            <a:ext cx="2971800" cy="457200"/>
          </a:xfrm>
          <a:prstGeom prst="rect">
            <a:avLst/>
          </a:prstGeom>
          <a:noFill/>
          <a:ln/>
        </p:spPr>
        <p:txBody>
          <a:bodyPr wrap="square" rtlCol="0" anchor="ctr"/>
          <a:lstStyle/>
          <a:p>
            <a:pPr marL="0" indent="0">
              <a:buNone/>
            </a:pPr>
            <a:r>
              <a:rPr lang="en-US" sz="1050" dirty="0">
                <a:solidFill>
                  <a:srgbClr val="6E6690"/>
                </a:solidFill>
                <a:latin typeface="Arial" pitchFamily="34" charset="0"/>
                <a:ea typeface="Arial" pitchFamily="34" charset="-122"/>
                <a:cs typeface="Arial" pitchFamily="34" charset="-120"/>
              </a:rPr>
              <a:t>What other people have done before us</a:t>
            </a:r>
            <a:endParaRPr lang="en-US" sz="1050" dirty="0"/>
          </a:p>
        </p:txBody>
      </p:sp>
      <p:sp>
        <p:nvSpPr>
          <p:cNvPr id="34" name="Text 3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35" name="Text 3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01 — GETTING STARTED</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Introduction</a:t>
            </a:r>
            <a:endParaRPr lang="en-US" sz="3000" dirty="0"/>
          </a:p>
        </p:txBody>
      </p:sp>
      <p:sp>
        <p:nvSpPr>
          <p:cNvPr id="4" name="Text 2"/>
          <p:cNvSpPr/>
          <p:nvPr/>
        </p:nvSpPr>
        <p:spPr>
          <a:xfrm>
            <a:off x="640080" y="1691640"/>
            <a:ext cx="6035040" cy="1280160"/>
          </a:xfrm>
          <a:prstGeom prst="rect">
            <a:avLst/>
          </a:prstGeom>
          <a:noFill/>
          <a:ln/>
        </p:spPr>
        <p:txBody>
          <a:bodyPr wrap="square" rtlCol="0" anchor="ctr"/>
          <a:lstStyle/>
          <a:p>
            <a:pPr marL="0" indent="0">
              <a:lnSpc>
                <a:spcPct val="125000"/>
              </a:lnSpc>
              <a:buNone/>
            </a:pPr>
            <a:r>
              <a:rPr lang="en-US" sz="1500" dirty="0">
                <a:solidFill>
                  <a:srgbClr val="241C4E"/>
                </a:solidFill>
                <a:latin typeface="Arial" pitchFamily="34" charset="0"/>
                <a:ea typeface="Arial" pitchFamily="34" charset="-122"/>
                <a:cs typeface="Arial" pitchFamily="34" charset="-120"/>
              </a:rPr>
              <a:t>When you </a:t>
            </a:r>
            <a:r>
              <a:rPr lang="en-US" sz="1500">
                <a:solidFill>
                  <a:srgbClr val="241C4E"/>
                </a:solidFill>
                <a:latin typeface="Arial" pitchFamily="34" charset="0"/>
                <a:ea typeface="Arial" pitchFamily="34" charset="-122"/>
                <a:cs typeface="Arial" pitchFamily="34" charset="-120"/>
              </a:rPr>
              <a:t>shop online</a:t>
            </a:r>
            <a:endParaRPr lang="en-US" sz="1500" dirty="0"/>
          </a:p>
        </p:txBody>
      </p:sp>
      <p:sp>
        <p:nvSpPr>
          <p:cNvPr id="5" name="Shape 3"/>
          <p:cNvSpPr/>
          <p:nvPr/>
        </p:nvSpPr>
        <p:spPr>
          <a:xfrm>
            <a:off x="640080" y="3008376"/>
            <a:ext cx="411480" cy="411480"/>
          </a:xfrm>
          <a:prstGeom prst="ellipse">
            <a:avLst/>
          </a:prstGeom>
          <a:solidFill>
            <a:srgbClr val="241C4E"/>
          </a:solidFill>
          <a:ln/>
        </p:spPr>
      </p:sp>
      <p:sp>
        <p:nvSpPr>
          <p:cNvPr id="6" name="Text 4"/>
          <p:cNvSpPr/>
          <p:nvPr/>
        </p:nvSpPr>
        <p:spPr>
          <a:xfrm>
            <a:off x="640080" y="3008376"/>
            <a:ext cx="411480" cy="411480"/>
          </a:xfrm>
          <a:prstGeom prst="rect">
            <a:avLst/>
          </a:prstGeom>
          <a:noFill/>
          <a:ln/>
        </p:spPr>
        <p:txBody>
          <a:bodyPr wrap="square" rtlCol="0" anchor="ctr"/>
          <a:lstStyle/>
          <a:p>
            <a:pPr marL="0" indent="0" algn="ctr">
              <a:buNone/>
            </a:pPr>
            <a:r>
              <a:rPr lang="en-US" sz="1200" dirty="0">
                <a:solidFill>
                  <a:srgbClr val="000000"/>
                </a:solidFill>
                <a:latin typeface="Arial" pitchFamily="34" charset="0"/>
                <a:ea typeface="Arial" pitchFamily="34" charset="-122"/>
                <a:cs typeface="Arial" pitchFamily="34" charset="-120"/>
              </a:rPr>
              <a:t>🧩</a:t>
            </a:r>
            <a:endParaRPr lang="en-US" sz="1200" dirty="0"/>
          </a:p>
        </p:txBody>
      </p:sp>
      <p:sp>
        <p:nvSpPr>
          <p:cNvPr id="7" name="Text 5"/>
          <p:cNvSpPr/>
          <p:nvPr/>
        </p:nvSpPr>
        <p:spPr>
          <a:xfrm>
            <a:off x="1188720" y="2953512"/>
            <a:ext cx="548640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Same product, many listings</a:t>
            </a:r>
            <a:endParaRPr lang="en-US" sz="1350" dirty="0"/>
          </a:p>
        </p:txBody>
      </p:sp>
      <p:sp>
        <p:nvSpPr>
          <p:cNvPr id="8" name="Text 6"/>
          <p:cNvSpPr/>
          <p:nvPr/>
        </p:nvSpPr>
        <p:spPr>
          <a:xfrm>
            <a:off x="1188720" y="3264408"/>
            <a:ext cx="5486400" cy="548640"/>
          </a:xfrm>
          <a:prstGeom prst="rect">
            <a:avLst/>
          </a:prstGeom>
          <a:noFill/>
          <a:ln/>
        </p:spPr>
        <p:txBody>
          <a:bodyPr wrap="square" rtlCol="0" anchor="ctr"/>
          <a:lstStyle/>
          <a:p>
            <a:pPr marL="0" indent="0">
              <a:lnSpc>
                <a:spcPct val="115000"/>
              </a:lnSpc>
              <a:buNone/>
            </a:pPr>
            <a:r>
              <a:rPr lang="en-US" sz="1150" dirty="0">
                <a:solidFill>
                  <a:srgbClr val="6E6690"/>
                </a:solidFill>
                <a:latin typeface="Arial" pitchFamily="34" charset="0"/>
                <a:ea typeface="Arial" pitchFamily="34" charset="-122"/>
                <a:cs typeface="Arial" pitchFamily="34" charset="-120"/>
              </a:rPr>
              <a:t>The same item can appear with a different title, spelling, and format on every site.</a:t>
            </a:r>
            <a:endParaRPr lang="en-US" sz="1150" dirty="0"/>
          </a:p>
        </p:txBody>
      </p:sp>
      <p:sp>
        <p:nvSpPr>
          <p:cNvPr id="9" name="Shape 7"/>
          <p:cNvSpPr/>
          <p:nvPr/>
        </p:nvSpPr>
        <p:spPr>
          <a:xfrm>
            <a:off x="640080" y="3922776"/>
            <a:ext cx="411480" cy="411480"/>
          </a:xfrm>
          <a:prstGeom prst="ellipse">
            <a:avLst/>
          </a:prstGeom>
          <a:solidFill>
            <a:srgbClr val="241C4E"/>
          </a:solidFill>
          <a:ln/>
        </p:spPr>
      </p:sp>
      <p:sp>
        <p:nvSpPr>
          <p:cNvPr id="10" name="Text 8"/>
          <p:cNvSpPr/>
          <p:nvPr/>
        </p:nvSpPr>
        <p:spPr>
          <a:xfrm>
            <a:off x="640080" y="3922776"/>
            <a:ext cx="411480" cy="411480"/>
          </a:xfrm>
          <a:prstGeom prst="rect">
            <a:avLst/>
          </a:prstGeom>
          <a:noFill/>
          <a:ln/>
        </p:spPr>
        <p:txBody>
          <a:bodyPr wrap="square" rtlCol="0" anchor="ctr"/>
          <a:lstStyle/>
          <a:p>
            <a:pPr marL="0" indent="0" algn="ctr">
              <a:buNone/>
            </a:pPr>
            <a:r>
              <a:rPr lang="en-US" sz="1200" dirty="0">
                <a:solidFill>
                  <a:srgbClr val="000000"/>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1188720" y="3867912"/>
            <a:ext cx="548640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Hard to compare prices</a:t>
            </a:r>
            <a:endParaRPr lang="en-US" sz="1350" dirty="0"/>
          </a:p>
        </p:txBody>
      </p:sp>
      <p:sp>
        <p:nvSpPr>
          <p:cNvPr id="12" name="Text 10"/>
          <p:cNvSpPr/>
          <p:nvPr/>
        </p:nvSpPr>
        <p:spPr>
          <a:xfrm>
            <a:off x="1188720" y="4178808"/>
            <a:ext cx="5486400" cy="548640"/>
          </a:xfrm>
          <a:prstGeom prst="rect">
            <a:avLst/>
          </a:prstGeom>
          <a:noFill/>
          <a:ln/>
        </p:spPr>
        <p:txBody>
          <a:bodyPr wrap="square" rtlCol="0" anchor="ctr"/>
          <a:lstStyle/>
          <a:p>
            <a:pPr marL="0" indent="0">
              <a:lnSpc>
                <a:spcPct val="115000"/>
              </a:lnSpc>
              <a:buNone/>
            </a:pPr>
            <a:r>
              <a:rPr lang="en-US" sz="1150" dirty="0">
                <a:solidFill>
                  <a:srgbClr val="6E6690"/>
                </a:solidFill>
                <a:latin typeface="Arial" pitchFamily="34" charset="0"/>
                <a:ea typeface="Arial" pitchFamily="34" charset="-122"/>
                <a:cs typeface="Arial" pitchFamily="34" charset="-120"/>
              </a:rPr>
              <a:t>Shoppers have to check many pages just to find the best deal.</a:t>
            </a:r>
            <a:endParaRPr lang="en-US" sz="1150" dirty="0"/>
          </a:p>
        </p:txBody>
      </p:sp>
      <p:sp>
        <p:nvSpPr>
          <p:cNvPr id="13" name="Shape 11"/>
          <p:cNvSpPr/>
          <p:nvPr/>
        </p:nvSpPr>
        <p:spPr>
          <a:xfrm>
            <a:off x="640080" y="4837176"/>
            <a:ext cx="411480" cy="411480"/>
          </a:xfrm>
          <a:prstGeom prst="ellipse">
            <a:avLst/>
          </a:prstGeom>
          <a:solidFill>
            <a:srgbClr val="241C4E"/>
          </a:solidFill>
          <a:ln/>
        </p:spPr>
      </p:sp>
      <p:sp>
        <p:nvSpPr>
          <p:cNvPr id="14" name="Text 12"/>
          <p:cNvSpPr/>
          <p:nvPr/>
        </p:nvSpPr>
        <p:spPr>
          <a:xfrm>
            <a:off x="640080" y="4837176"/>
            <a:ext cx="411480" cy="411480"/>
          </a:xfrm>
          <a:prstGeom prst="rect">
            <a:avLst/>
          </a:prstGeom>
          <a:noFill/>
          <a:ln/>
        </p:spPr>
        <p:txBody>
          <a:bodyPr wrap="square" rtlCol="0" anchor="ctr"/>
          <a:lstStyle/>
          <a:p>
            <a:pPr marL="0" indent="0" algn="ctr">
              <a:buNone/>
            </a:pPr>
            <a:r>
              <a:rPr lang="en-US" sz="1200" dirty="0">
                <a:solidFill>
                  <a:srgbClr val="000000"/>
                </a:solidFill>
                <a:latin typeface="Arial" pitchFamily="34" charset="0"/>
                <a:ea typeface="Arial" pitchFamily="34" charset="-122"/>
                <a:cs typeface="Arial" pitchFamily="34" charset="-120"/>
              </a:rPr>
              <a:t>🎯</a:t>
            </a:r>
            <a:endParaRPr lang="en-US" sz="1200" dirty="0"/>
          </a:p>
        </p:txBody>
      </p:sp>
      <p:sp>
        <p:nvSpPr>
          <p:cNvPr id="15" name="Text 13"/>
          <p:cNvSpPr/>
          <p:nvPr/>
        </p:nvSpPr>
        <p:spPr>
          <a:xfrm>
            <a:off x="1188720" y="4782312"/>
            <a:ext cx="548640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Our goal</a:t>
            </a:r>
            <a:endParaRPr lang="en-US" sz="1350" dirty="0"/>
          </a:p>
        </p:txBody>
      </p:sp>
      <p:sp>
        <p:nvSpPr>
          <p:cNvPr id="16" name="Text 14"/>
          <p:cNvSpPr/>
          <p:nvPr/>
        </p:nvSpPr>
        <p:spPr>
          <a:xfrm>
            <a:off x="1188720" y="5093208"/>
            <a:ext cx="5486400" cy="548640"/>
          </a:xfrm>
          <a:prstGeom prst="rect">
            <a:avLst/>
          </a:prstGeom>
          <a:noFill/>
          <a:ln/>
        </p:spPr>
        <p:txBody>
          <a:bodyPr wrap="square" rtlCol="0" anchor="ctr"/>
          <a:lstStyle/>
          <a:p>
            <a:pPr marL="0" indent="0">
              <a:lnSpc>
                <a:spcPct val="115000"/>
              </a:lnSpc>
              <a:buNone/>
            </a:pPr>
            <a:r>
              <a:rPr lang="en-US" sz="1150" dirty="0">
                <a:solidFill>
                  <a:srgbClr val="6E6690"/>
                </a:solidFill>
                <a:latin typeface="Arial" pitchFamily="34" charset="0"/>
                <a:ea typeface="Arial" pitchFamily="34" charset="-122"/>
                <a:cs typeface="Arial" pitchFamily="34" charset="-120"/>
              </a:rPr>
              <a:t>Automatically find listings that are the same product and show them together.</a:t>
            </a:r>
            <a:endParaRPr lang="en-US" sz="1150" dirty="0"/>
          </a:p>
        </p:txBody>
      </p:sp>
      <p:sp>
        <p:nvSpPr>
          <p:cNvPr id="17" name="Shape 15"/>
          <p:cNvSpPr/>
          <p:nvPr/>
        </p:nvSpPr>
        <p:spPr>
          <a:xfrm>
            <a:off x="7086600" y="1691640"/>
            <a:ext cx="4480560" cy="4434840"/>
          </a:xfrm>
          <a:prstGeom prst="roundRect">
            <a:avLst>
              <a:gd name="adj" fmla="val 2062"/>
            </a:avLst>
          </a:prstGeom>
          <a:solidFill>
            <a:srgbClr val="F4F2FB"/>
          </a:solidFill>
          <a:ln/>
        </p:spPr>
      </p:sp>
      <p:sp>
        <p:nvSpPr>
          <p:cNvPr id="18" name="Shape 16"/>
          <p:cNvSpPr/>
          <p:nvPr/>
        </p:nvSpPr>
        <p:spPr>
          <a:xfrm>
            <a:off x="7360920" y="1965960"/>
            <a:ext cx="3931920" cy="566928"/>
          </a:xfrm>
          <a:prstGeom prst="roundRect">
            <a:avLst>
              <a:gd name="adj" fmla="val 9677"/>
            </a:avLst>
          </a:prstGeom>
          <a:solidFill>
            <a:srgbClr val="FFFFFF"/>
          </a:solidFill>
          <a:ln w="12700">
            <a:solidFill>
              <a:srgbClr val="DDE3E8"/>
            </a:solidFill>
            <a:prstDash val="solid"/>
          </a:ln>
        </p:spPr>
      </p:sp>
      <p:sp>
        <p:nvSpPr>
          <p:cNvPr id="19" name="Text 17"/>
          <p:cNvSpPr/>
          <p:nvPr/>
        </p:nvSpPr>
        <p:spPr>
          <a:xfrm>
            <a:off x="7543800" y="1965960"/>
            <a:ext cx="3566160" cy="566928"/>
          </a:xfrm>
          <a:prstGeom prst="rect">
            <a:avLst/>
          </a:prstGeom>
          <a:noFill/>
          <a:ln/>
        </p:spPr>
        <p:txBody>
          <a:bodyPr wrap="square" rtlCol="0" anchor="ctr"/>
          <a:lstStyle/>
          <a:p>
            <a:pPr marL="0" indent="0">
              <a:buNone/>
            </a:pPr>
            <a:r>
              <a:rPr lang="en-US" sz="1050" i="1" dirty="0">
                <a:solidFill>
                  <a:srgbClr val="241C4E"/>
                </a:solidFill>
                <a:latin typeface="Arial" pitchFamily="34" charset="0"/>
                <a:ea typeface="Arial" pitchFamily="34" charset="-122"/>
                <a:cs typeface="Arial" pitchFamily="34" charset="-120"/>
              </a:rPr>
              <a:t>"Listing A — from Seller 1"</a:t>
            </a:r>
            <a:endParaRPr lang="en-US" sz="1050" dirty="0"/>
          </a:p>
        </p:txBody>
      </p:sp>
      <p:sp>
        <p:nvSpPr>
          <p:cNvPr id="20" name="Shape 18"/>
          <p:cNvSpPr/>
          <p:nvPr/>
        </p:nvSpPr>
        <p:spPr>
          <a:xfrm>
            <a:off x="7360920" y="2743200"/>
            <a:ext cx="3931920" cy="566928"/>
          </a:xfrm>
          <a:prstGeom prst="roundRect">
            <a:avLst>
              <a:gd name="adj" fmla="val 9677"/>
            </a:avLst>
          </a:prstGeom>
          <a:solidFill>
            <a:srgbClr val="FFFFFF"/>
          </a:solidFill>
          <a:ln w="12700">
            <a:solidFill>
              <a:srgbClr val="DDE3E8"/>
            </a:solidFill>
            <a:prstDash val="solid"/>
          </a:ln>
        </p:spPr>
      </p:sp>
      <p:sp>
        <p:nvSpPr>
          <p:cNvPr id="21" name="Text 19"/>
          <p:cNvSpPr/>
          <p:nvPr/>
        </p:nvSpPr>
        <p:spPr>
          <a:xfrm>
            <a:off x="7543800" y="2743200"/>
            <a:ext cx="3566160" cy="566928"/>
          </a:xfrm>
          <a:prstGeom prst="rect">
            <a:avLst/>
          </a:prstGeom>
          <a:noFill/>
          <a:ln/>
        </p:spPr>
        <p:txBody>
          <a:bodyPr wrap="square" rtlCol="0" anchor="ctr"/>
          <a:lstStyle/>
          <a:p>
            <a:pPr marL="0" indent="0">
              <a:buNone/>
            </a:pPr>
            <a:r>
              <a:rPr lang="en-US" sz="1050" i="1" dirty="0">
                <a:solidFill>
                  <a:srgbClr val="241C4E"/>
                </a:solidFill>
                <a:latin typeface="Arial" pitchFamily="34" charset="0"/>
                <a:ea typeface="Arial" pitchFamily="34" charset="-122"/>
                <a:cs typeface="Arial" pitchFamily="34" charset="-120"/>
              </a:rPr>
              <a:t>"Listing B — from Seller 2"</a:t>
            </a:r>
            <a:endParaRPr lang="en-US" sz="1050" dirty="0"/>
          </a:p>
        </p:txBody>
      </p:sp>
      <p:sp>
        <p:nvSpPr>
          <p:cNvPr id="22" name="Shape 20"/>
          <p:cNvSpPr/>
          <p:nvPr/>
        </p:nvSpPr>
        <p:spPr>
          <a:xfrm>
            <a:off x="7360920" y="3520440"/>
            <a:ext cx="3931920" cy="566928"/>
          </a:xfrm>
          <a:prstGeom prst="roundRect">
            <a:avLst>
              <a:gd name="adj" fmla="val 9677"/>
            </a:avLst>
          </a:prstGeom>
          <a:solidFill>
            <a:srgbClr val="FFFFFF"/>
          </a:solidFill>
          <a:ln w="12700">
            <a:solidFill>
              <a:srgbClr val="DDE3E8"/>
            </a:solidFill>
            <a:prstDash val="solid"/>
          </a:ln>
        </p:spPr>
      </p:sp>
      <p:sp>
        <p:nvSpPr>
          <p:cNvPr id="23" name="Text 21"/>
          <p:cNvSpPr/>
          <p:nvPr/>
        </p:nvSpPr>
        <p:spPr>
          <a:xfrm>
            <a:off x="7543800" y="3520440"/>
            <a:ext cx="3566160" cy="566928"/>
          </a:xfrm>
          <a:prstGeom prst="rect">
            <a:avLst/>
          </a:prstGeom>
          <a:noFill/>
          <a:ln/>
        </p:spPr>
        <p:txBody>
          <a:bodyPr wrap="square" rtlCol="0" anchor="ctr"/>
          <a:lstStyle/>
          <a:p>
            <a:pPr marL="0" indent="0">
              <a:buNone/>
            </a:pPr>
            <a:r>
              <a:rPr lang="en-US" sz="1050" i="1" dirty="0">
                <a:solidFill>
                  <a:srgbClr val="241C4E"/>
                </a:solidFill>
                <a:latin typeface="Arial" pitchFamily="34" charset="0"/>
                <a:ea typeface="Arial" pitchFamily="34" charset="-122"/>
                <a:cs typeface="Arial" pitchFamily="34" charset="-120"/>
              </a:rPr>
              <a:t>"Listing C — from Seller 3"</a:t>
            </a:r>
            <a:endParaRPr lang="en-US" sz="1050" dirty="0"/>
          </a:p>
        </p:txBody>
      </p:sp>
      <p:sp>
        <p:nvSpPr>
          <p:cNvPr id="24" name="Text 22"/>
          <p:cNvSpPr/>
          <p:nvPr/>
        </p:nvSpPr>
        <p:spPr>
          <a:xfrm>
            <a:off x="7360920" y="4315968"/>
            <a:ext cx="3931920" cy="320040"/>
          </a:xfrm>
          <a:prstGeom prst="rect">
            <a:avLst/>
          </a:prstGeom>
          <a:noFill/>
          <a:ln/>
        </p:spPr>
        <p:txBody>
          <a:bodyPr wrap="square" rtlCol="0" anchor="ctr"/>
          <a:lstStyle/>
          <a:p>
            <a:pPr marL="0" indent="0" algn="ctr">
              <a:buNone/>
            </a:pPr>
            <a:r>
              <a:rPr lang="en-US" sz="1000" b="1" dirty="0">
                <a:solidFill>
                  <a:srgbClr val="6C4CE0"/>
                </a:solidFill>
                <a:latin typeface="Arial" pitchFamily="34" charset="0"/>
                <a:ea typeface="Arial" pitchFamily="34" charset="-122"/>
                <a:cs typeface="Arial" pitchFamily="34" charset="-120"/>
              </a:rPr>
              <a:t>↓  matched as one product  ↓</a:t>
            </a:r>
            <a:endParaRPr lang="en-US" sz="1000" dirty="0"/>
          </a:p>
        </p:txBody>
      </p:sp>
      <p:sp>
        <p:nvSpPr>
          <p:cNvPr id="25" name="Shape 23"/>
          <p:cNvSpPr/>
          <p:nvPr/>
        </p:nvSpPr>
        <p:spPr>
          <a:xfrm>
            <a:off x="7360920" y="4709160"/>
            <a:ext cx="3931920" cy="777240"/>
          </a:xfrm>
          <a:prstGeom prst="roundRect">
            <a:avLst>
              <a:gd name="adj" fmla="val 8235"/>
            </a:avLst>
          </a:prstGeom>
          <a:solidFill>
            <a:srgbClr val="6C4CE0"/>
          </a:solidFill>
          <a:ln/>
        </p:spPr>
      </p:sp>
      <p:sp>
        <p:nvSpPr>
          <p:cNvPr id="26" name="Text 24"/>
          <p:cNvSpPr/>
          <p:nvPr/>
        </p:nvSpPr>
        <p:spPr>
          <a:xfrm>
            <a:off x="7543800" y="4709160"/>
            <a:ext cx="3566160" cy="7772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Canonical Product</a:t>
            </a:r>
            <a:endParaRPr lang="en-US" sz="1200" dirty="0"/>
          </a:p>
          <a:p>
            <a:pPr marL="0" indent="0">
              <a:buNone/>
            </a:pPr>
            <a:r>
              <a:rPr lang="en-US" sz="1200" b="1" dirty="0">
                <a:solidFill>
                  <a:srgbClr val="FFFFFF"/>
                </a:solidFill>
                <a:latin typeface="Arial" pitchFamily="34" charset="0"/>
                <a:ea typeface="Arial" pitchFamily="34" charset="-122"/>
                <a:cs typeface="Arial" pitchFamily="34" charset="-120"/>
              </a:rPr>
              <a:t>One Verified Product</a:t>
            </a:r>
            <a:endParaRPr lang="en-US" sz="1200" dirty="0"/>
          </a:p>
        </p:txBody>
      </p:sp>
      <p:sp>
        <p:nvSpPr>
          <p:cNvPr id="27" name="Text 2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28" name="Text 26"/>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02 — PROJECT SUMMARY</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Abstract</a:t>
            </a:r>
            <a:endParaRPr lang="en-US" sz="3000" dirty="0"/>
          </a:p>
        </p:txBody>
      </p:sp>
      <p:sp>
        <p:nvSpPr>
          <p:cNvPr id="4" name="Shape 2"/>
          <p:cNvSpPr/>
          <p:nvPr/>
        </p:nvSpPr>
        <p:spPr>
          <a:xfrm>
            <a:off x="640080" y="1737360"/>
            <a:ext cx="6949440" cy="4389120"/>
          </a:xfrm>
          <a:prstGeom prst="roundRect">
            <a:avLst>
              <a:gd name="adj" fmla="val 2083"/>
            </a:avLst>
          </a:prstGeom>
          <a:solidFill>
            <a:srgbClr val="F4F2FB"/>
          </a:solidFill>
          <a:ln/>
        </p:spPr>
      </p:sp>
      <p:sp>
        <p:nvSpPr>
          <p:cNvPr id="5" name="Text 3"/>
          <p:cNvSpPr/>
          <p:nvPr/>
        </p:nvSpPr>
        <p:spPr>
          <a:xfrm>
            <a:off x="914400" y="1965960"/>
            <a:ext cx="6400800" cy="3931920"/>
          </a:xfrm>
          <a:prstGeom prst="rect">
            <a:avLst/>
          </a:prstGeom>
          <a:noFill/>
          <a:ln/>
        </p:spPr>
        <p:txBody>
          <a:bodyPr wrap="square" rtlCol="0" anchor="ctr"/>
          <a:lstStyle/>
          <a:p>
            <a:pPr marL="0" indent="0">
              <a:lnSpc>
                <a:spcPct val="135000"/>
              </a:lnSpc>
              <a:buNone/>
            </a:pPr>
            <a:r>
              <a:rPr lang="en-US" sz="1350" dirty="0">
                <a:solidFill>
                  <a:srgbClr val="241C4E"/>
                </a:solidFill>
                <a:latin typeface="Arial" pitchFamily="34" charset="0"/>
                <a:ea typeface="Arial" pitchFamily="34" charset="-122"/>
                <a:cs typeface="Arial" pitchFamily="34" charset="-120"/>
              </a:rPr>
              <a:t>Our project finds when different sellers are actually selling the same product, even if they describe it differently. It collects listings from many sellers, cleans up the text, and uses string-matching and pattern-matching algorithms to spot matching products. Matching listings are grouped under one main product, and we show all sellers and their prices in one place — making it easy and quick to compare and choose the best deal.</a:t>
            </a:r>
            <a:endParaRPr lang="en-US" sz="1350" dirty="0"/>
          </a:p>
        </p:txBody>
      </p:sp>
      <p:sp>
        <p:nvSpPr>
          <p:cNvPr id="6" name="Shape 4"/>
          <p:cNvSpPr/>
          <p:nvPr/>
        </p:nvSpPr>
        <p:spPr>
          <a:xfrm>
            <a:off x="7863840" y="1737360"/>
            <a:ext cx="3749040" cy="1325880"/>
          </a:xfrm>
          <a:prstGeom prst="roundRect">
            <a:avLst>
              <a:gd name="adj" fmla="val 6207"/>
            </a:avLst>
          </a:prstGeom>
          <a:solidFill>
            <a:srgbClr val="241C4E"/>
          </a:solidFill>
          <a:ln/>
        </p:spPr>
      </p:sp>
      <p:sp>
        <p:nvSpPr>
          <p:cNvPr id="7" name="Text 5"/>
          <p:cNvSpPr/>
          <p:nvPr/>
        </p:nvSpPr>
        <p:spPr>
          <a:xfrm>
            <a:off x="8092440" y="1901952"/>
            <a:ext cx="3291840" cy="502920"/>
          </a:xfrm>
          <a:prstGeom prst="rect">
            <a:avLst/>
          </a:prstGeom>
          <a:noFill/>
          <a:ln/>
        </p:spPr>
        <p:txBody>
          <a:bodyPr wrap="square" rtlCol="0" anchor="ctr"/>
          <a:lstStyle/>
          <a:p>
            <a:pPr marL="0" indent="0">
              <a:buNone/>
            </a:pPr>
            <a:r>
              <a:rPr lang="en-US" sz="1800" b="1" dirty="0">
                <a:solidFill>
                  <a:srgbClr val="00D4C8"/>
                </a:solidFill>
                <a:latin typeface="Arial" pitchFamily="34" charset="0"/>
                <a:ea typeface="Arial" pitchFamily="34" charset="-122"/>
                <a:cs typeface="Arial" pitchFamily="34" charset="-120"/>
              </a:rPr>
              <a:t>Algorithms</a:t>
            </a:r>
            <a:endParaRPr lang="en-US" sz="1800" dirty="0"/>
          </a:p>
        </p:txBody>
      </p:sp>
      <p:sp>
        <p:nvSpPr>
          <p:cNvPr id="8" name="Text 6"/>
          <p:cNvSpPr/>
          <p:nvPr/>
        </p:nvSpPr>
        <p:spPr>
          <a:xfrm>
            <a:off x="8092440" y="2423160"/>
            <a:ext cx="3291840" cy="457200"/>
          </a:xfrm>
          <a:prstGeom prst="rect">
            <a:avLst/>
          </a:prstGeom>
          <a:noFill/>
          <a:ln/>
        </p:spPr>
        <p:txBody>
          <a:bodyPr wrap="square" rtlCol="0" anchor="ctr"/>
          <a:lstStyle/>
          <a:p>
            <a:pPr marL="0" indent="0">
              <a:buNone/>
            </a:pPr>
            <a:r>
              <a:rPr lang="en-US" sz="1150" dirty="0">
                <a:solidFill>
                  <a:srgbClr val="D6CFF0"/>
                </a:solidFill>
                <a:latin typeface="Arial" pitchFamily="34" charset="0"/>
                <a:ea typeface="Arial" pitchFamily="34" charset="-122"/>
                <a:cs typeface="Arial" pitchFamily="34" charset="-120"/>
              </a:rPr>
              <a:t>Finds matching products</a:t>
            </a:r>
            <a:endParaRPr lang="en-US" sz="1150" dirty="0"/>
          </a:p>
        </p:txBody>
      </p:sp>
      <p:sp>
        <p:nvSpPr>
          <p:cNvPr id="9" name="Shape 7"/>
          <p:cNvSpPr/>
          <p:nvPr/>
        </p:nvSpPr>
        <p:spPr>
          <a:xfrm>
            <a:off x="7863840" y="3273552"/>
            <a:ext cx="3749040" cy="1325880"/>
          </a:xfrm>
          <a:prstGeom prst="roundRect">
            <a:avLst>
              <a:gd name="adj" fmla="val 6207"/>
            </a:avLst>
          </a:prstGeom>
          <a:solidFill>
            <a:srgbClr val="241C4E"/>
          </a:solidFill>
          <a:ln/>
        </p:spPr>
      </p:sp>
      <p:sp>
        <p:nvSpPr>
          <p:cNvPr id="10" name="Text 8"/>
          <p:cNvSpPr/>
          <p:nvPr/>
        </p:nvSpPr>
        <p:spPr>
          <a:xfrm>
            <a:off x="8092440" y="3438144"/>
            <a:ext cx="3291840" cy="502920"/>
          </a:xfrm>
          <a:prstGeom prst="rect">
            <a:avLst/>
          </a:prstGeom>
          <a:noFill/>
          <a:ln/>
        </p:spPr>
        <p:txBody>
          <a:bodyPr wrap="square" rtlCol="0" anchor="ctr"/>
          <a:lstStyle/>
          <a:p>
            <a:pPr marL="0" indent="0">
              <a:buNone/>
            </a:pPr>
            <a:r>
              <a:rPr lang="en-US" sz="1800" b="1" dirty="0">
                <a:solidFill>
                  <a:srgbClr val="00D4C8"/>
                </a:solidFill>
                <a:latin typeface="Arial" pitchFamily="34" charset="0"/>
                <a:ea typeface="Arial" pitchFamily="34" charset="-122"/>
                <a:cs typeface="Arial" pitchFamily="34" charset="-120"/>
              </a:rPr>
              <a:t>Grouping</a:t>
            </a:r>
            <a:endParaRPr lang="en-US" sz="1800" dirty="0"/>
          </a:p>
        </p:txBody>
      </p:sp>
      <p:sp>
        <p:nvSpPr>
          <p:cNvPr id="11" name="Text 9"/>
          <p:cNvSpPr/>
          <p:nvPr/>
        </p:nvSpPr>
        <p:spPr>
          <a:xfrm>
            <a:off x="8092440" y="3959352"/>
            <a:ext cx="3291840" cy="457200"/>
          </a:xfrm>
          <a:prstGeom prst="rect">
            <a:avLst/>
          </a:prstGeom>
          <a:noFill/>
          <a:ln/>
        </p:spPr>
        <p:txBody>
          <a:bodyPr wrap="square" rtlCol="0" anchor="ctr"/>
          <a:lstStyle/>
          <a:p>
            <a:pPr marL="0" indent="0">
              <a:buNone/>
            </a:pPr>
            <a:r>
              <a:rPr lang="en-US" sz="1150" dirty="0">
                <a:solidFill>
                  <a:srgbClr val="D6CFF0"/>
                </a:solidFill>
                <a:latin typeface="Arial" pitchFamily="34" charset="0"/>
                <a:ea typeface="Arial" pitchFamily="34" charset="-122"/>
                <a:cs typeface="Arial" pitchFamily="34" charset="-120"/>
              </a:rPr>
              <a:t>Combines matches into one</a:t>
            </a:r>
            <a:endParaRPr lang="en-US" sz="1150" dirty="0"/>
          </a:p>
        </p:txBody>
      </p:sp>
      <p:sp>
        <p:nvSpPr>
          <p:cNvPr id="12" name="Shape 10"/>
          <p:cNvSpPr/>
          <p:nvPr/>
        </p:nvSpPr>
        <p:spPr>
          <a:xfrm>
            <a:off x="7863840" y="4809744"/>
            <a:ext cx="3749040" cy="1325880"/>
          </a:xfrm>
          <a:prstGeom prst="roundRect">
            <a:avLst>
              <a:gd name="adj" fmla="val 6207"/>
            </a:avLst>
          </a:prstGeom>
          <a:solidFill>
            <a:srgbClr val="241C4E"/>
          </a:solidFill>
          <a:ln/>
        </p:spPr>
      </p:sp>
      <p:sp>
        <p:nvSpPr>
          <p:cNvPr id="13" name="Text 11"/>
          <p:cNvSpPr/>
          <p:nvPr/>
        </p:nvSpPr>
        <p:spPr>
          <a:xfrm>
            <a:off x="8092440" y="4974336"/>
            <a:ext cx="3291840" cy="502920"/>
          </a:xfrm>
          <a:prstGeom prst="rect">
            <a:avLst/>
          </a:prstGeom>
          <a:noFill/>
          <a:ln/>
        </p:spPr>
        <p:txBody>
          <a:bodyPr wrap="square" rtlCol="0" anchor="ctr"/>
          <a:lstStyle/>
          <a:p>
            <a:pPr marL="0" indent="0">
              <a:buNone/>
            </a:pPr>
            <a:r>
              <a:rPr lang="en-US" sz="1800" b="1" dirty="0">
                <a:solidFill>
                  <a:srgbClr val="00D4C8"/>
                </a:solidFill>
                <a:latin typeface="Arial" pitchFamily="34" charset="0"/>
                <a:ea typeface="Arial" pitchFamily="34" charset="-122"/>
                <a:cs typeface="Arial" pitchFamily="34" charset="-120"/>
              </a:rPr>
              <a:t>Compare</a:t>
            </a:r>
            <a:endParaRPr lang="en-US" sz="1800" dirty="0"/>
          </a:p>
        </p:txBody>
      </p:sp>
      <p:sp>
        <p:nvSpPr>
          <p:cNvPr id="14" name="Text 12"/>
          <p:cNvSpPr/>
          <p:nvPr/>
        </p:nvSpPr>
        <p:spPr>
          <a:xfrm>
            <a:off x="8092440" y="5495544"/>
            <a:ext cx="3291840" cy="457200"/>
          </a:xfrm>
          <a:prstGeom prst="rect">
            <a:avLst/>
          </a:prstGeom>
          <a:noFill/>
          <a:ln/>
        </p:spPr>
        <p:txBody>
          <a:bodyPr wrap="square" rtlCol="0" anchor="ctr"/>
          <a:lstStyle/>
          <a:p>
            <a:pPr marL="0" indent="0">
              <a:buNone/>
            </a:pPr>
            <a:r>
              <a:rPr lang="en-US" sz="1150" dirty="0">
                <a:solidFill>
                  <a:srgbClr val="D6CFF0"/>
                </a:solidFill>
                <a:latin typeface="Arial" pitchFamily="34" charset="0"/>
                <a:ea typeface="Arial" pitchFamily="34" charset="-122"/>
                <a:cs typeface="Arial" pitchFamily="34" charset="-120"/>
              </a:rPr>
              <a:t>Shows all prices together</a:t>
            </a:r>
            <a:endParaRPr lang="en-US" sz="1150" dirty="0"/>
          </a:p>
        </p:txBody>
      </p:sp>
      <p:sp>
        <p:nvSpPr>
          <p:cNvPr id="15" name="Text 13"/>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16" name="Text 1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03 — TECH STACK</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Software Requirements</a:t>
            </a:r>
            <a:endParaRPr lang="en-US" sz="3000" dirty="0"/>
          </a:p>
        </p:txBody>
      </p:sp>
      <p:sp>
        <p:nvSpPr>
          <p:cNvPr id="4" name="Text 2"/>
          <p:cNvSpPr/>
          <p:nvPr/>
        </p:nvSpPr>
        <p:spPr>
          <a:xfrm>
            <a:off x="640080" y="1417320"/>
            <a:ext cx="7315200" cy="320040"/>
          </a:xfrm>
          <a:prstGeom prst="rect">
            <a:avLst/>
          </a:prstGeom>
          <a:noFill/>
          <a:ln/>
        </p:spPr>
        <p:txBody>
          <a:bodyPr wrap="square" rtlCol="0" anchor="ctr"/>
          <a:lstStyle/>
          <a:p>
            <a:pPr marL="0" indent="0">
              <a:buNone/>
            </a:pPr>
            <a:r>
              <a:rPr lang="en-US" sz="1200" i="1" dirty="0">
                <a:solidFill>
                  <a:srgbClr val="6E6690"/>
                </a:solidFill>
                <a:latin typeface="Arial" pitchFamily="34" charset="0"/>
                <a:ea typeface="Arial" pitchFamily="34" charset="-122"/>
                <a:cs typeface="Arial" pitchFamily="34" charset="-120"/>
              </a:rPr>
              <a:t>A simple stack we can build this project with</a:t>
            </a:r>
            <a:endParaRPr lang="en-US" sz="1200" dirty="0"/>
          </a:p>
        </p:txBody>
      </p:sp>
      <p:sp>
        <p:nvSpPr>
          <p:cNvPr id="5" name="Shape 3"/>
          <p:cNvSpPr/>
          <p:nvPr/>
        </p:nvSpPr>
        <p:spPr>
          <a:xfrm>
            <a:off x="640080" y="1828800"/>
            <a:ext cx="3566160" cy="2148840"/>
          </a:xfrm>
          <a:prstGeom prst="roundRect">
            <a:avLst>
              <a:gd name="adj" fmla="val 3830"/>
            </a:avLst>
          </a:prstGeom>
          <a:solidFill>
            <a:srgbClr val="F4F2FB"/>
          </a:solidFill>
          <a:ln/>
        </p:spPr>
      </p:sp>
      <p:sp>
        <p:nvSpPr>
          <p:cNvPr id="6" name="Shape 4"/>
          <p:cNvSpPr/>
          <p:nvPr/>
        </p:nvSpPr>
        <p:spPr>
          <a:xfrm>
            <a:off x="640080" y="1828800"/>
            <a:ext cx="3566160" cy="502920"/>
          </a:xfrm>
          <a:prstGeom prst="roundRect">
            <a:avLst>
              <a:gd name="adj" fmla="val 16364"/>
            </a:avLst>
          </a:prstGeom>
          <a:solidFill>
            <a:srgbClr val="6C4CE0"/>
          </a:solidFill>
          <a:ln/>
        </p:spPr>
      </p:sp>
      <p:sp>
        <p:nvSpPr>
          <p:cNvPr id="7" name="Shape 5"/>
          <p:cNvSpPr/>
          <p:nvPr/>
        </p:nvSpPr>
        <p:spPr>
          <a:xfrm>
            <a:off x="640080" y="2103120"/>
            <a:ext cx="3566160" cy="228600"/>
          </a:xfrm>
          <a:prstGeom prst="rect">
            <a:avLst/>
          </a:prstGeom>
          <a:solidFill>
            <a:srgbClr val="6C4CE0"/>
          </a:solidFill>
          <a:ln/>
        </p:spPr>
      </p:sp>
      <p:sp>
        <p:nvSpPr>
          <p:cNvPr id="8" name="Text 6"/>
          <p:cNvSpPr/>
          <p:nvPr/>
        </p:nvSpPr>
        <p:spPr>
          <a:xfrm>
            <a:off x="804672" y="1828800"/>
            <a:ext cx="457200" cy="502920"/>
          </a:xfrm>
          <a:prstGeom prst="rect">
            <a:avLst/>
          </a:prstGeom>
          <a:noFill/>
          <a:ln/>
        </p:spPr>
        <p:txBody>
          <a:bodyPr wrap="square"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234440" y="1828800"/>
            <a:ext cx="278892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Frontend</a:t>
            </a:r>
            <a:endParaRPr lang="en-US" sz="1300" dirty="0"/>
          </a:p>
        </p:txBody>
      </p:sp>
      <p:sp>
        <p:nvSpPr>
          <p:cNvPr id="10" name="Text 8"/>
          <p:cNvSpPr/>
          <p:nvPr/>
        </p:nvSpPr>
        <p:spPr>
          <a:xfrm>
            <a:off x="841248" y="2487168"/>
            <a:ext cx="3163824" cy="1325880"/>
          </a:xfrm>
          <a:prstGeom prst="rect">
            <a:avLst/>
          </a:prstGeom>
          <a:noFill/>
          <a:ln/>
        </p:spPr>
        <p:txBody>
          <a:bodyPr wrap="square" rtlCol="0" anchor="t"/>
          <a:lstStyle/>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HTML</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CSS</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JavaScript</a:t>
            </a:r>
            <a:endParaRPr lang="en-US" sz="1100" dirty="0"/>
          </a:p>
        </p:txBody>
      </p:sp>
      <p:sp>
        <p:nvSpPr>
          <p:cNvPr id="11" name="Shape 9"/>
          <p:cNvSpPr/>
          <p:nvPr/>
        </p:nvSpPr>
        <p:spPr>
          <a:xfrm>
            <a:off x="4434840" y="1828800"/>
            <a:ext cx="3566160" cy="2148840"/>
          </a:xfrm>
          <a:prstGeom prst="roundRect">
            <a:avLst>
              <a:gd name="adj" fmla="val 3830"/>
            </a:avLst>
          </a:prstGeom>
          <a:solidFill>
            <a:srgbClr val="F4F2FB"/>
          </a:solidFill>
          <a:ln/>
        </p:spPr>
      </p:sp>
      <p:sp>
        <p:nvSpPr>
          <p:cNvPr id="12" name="Shape 10"/>
          <p:cNvSpPr/>
          <p:nvPr/>
        </p:nvSpPr>
        <p:spPr>
          <a:xfrm>
            <a:off x="4434840" y="1828800"/>
            <a:ext cx="3566160" cy="502920"/>
          </a:xfrm>
          <a:prstGeom prst="roundRect">
            <a:avLst>
              <a:gd name="adj" fmla="val 16364"/>
            </a:avLst>
          </a:prstGeom>
          <a:solidFill>
            <a:srgbClr val="6C4CE0"/>
          </a:solidFill>
          <a:ln/>
        </p:spPr>
      </p:sp>
      <p:sp>
        <p:nvSpPr>
          <p:cNvPr id="13" name="Shape 11"/>
          <p:cNvSpPr/>
          <p:nvPr/>
        </p:nvSpPr>
        <p:spPr>
          <a:xfrm>
            <a:off x="4434840" y="2103120"/>
            <a:ext cx="3566160" cy="228600"/>
          </a:xfrm>
          <a:prstGeom prst="rect">
            <a:avLst/>
          </a:prstGeom>
          <a:solidFill>
            <a:srgbClr val="6C4CE0"/>
          </a:solidFill>
          <a:ln/>
        </p:spPr>
      </p:sp>
      <p:sp>
        <p:nvSpPr>
          <p:cNvPr id="14" name="Text 12"/>
          <p:cNvSpPr/>
          <p:nvPr/>
        </p:nvSpPr>
        <p:spPr>
          <a:xfrm>
            <a:off x="4599432" y="1828800"/>
            <a:ext cx="457200" cy="502920"/>
          </a:xfrm>
          <a:prstGeom prst="rect">
            <a:avLst/>
          </a:prstGeom>
          <a:noFill/>
          <a:ln/>
        </p:spPr>
        <p:txBody>
          <a:bodyPr wrap="square"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5029200" y="1828800"/>
            <a:ext cx="278892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Backend</a:t>
            </a:r>
            <a:endParaRPr lang="en-US" sz="1300" dirty="0"/>
          </a:p>
        </p:txBody>
      </p:sp>
      <p:sp>
        <p:nvSpPr>
          <p:cNvPr id="16" name="Text 14"/>
          <p:cNvSpPr/>
          <p:nvPr/>
        </p:nvSpPr>
        <p:spPr>
          <a:xfrm>
            <a:off x="4636008" y="2487168"/>
            <a:ext cx="3163824" cy="1325880"/>
          </a:xfrm>
          <a:prstGeom prst="rect">
            <a:avLst/>
          </a:prstGeom>
          <a:noFill/>
          <a:ln/>
        </p:spPr>
        <p:txBody>
          <a:bodyPr wrap="square" rtlCol="0" anchor="t"/>
          <a:lstStyle/>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Python </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or Java + Spring Boot</a:t>
            </a:r>
            <a:endParaRPr lang="en-US" sz="1100" dirty="0"/>
          </a:p>
        </p:txBody>
      </p:sp>
      <p:sp>
        <p:nvSpPr>
          <p:cNvPr id="17" name="Shape 15"/>
          <p:cNvSpPr/>
          <p:nvPr/>
        </p:nvSpPr>
        <p:spPr>
          <a:xfrm>
            <a:off x="8229600" y="1828800"/>
            <a:ext cx="3566160" cy="2148840"/>
          </a:xfrm>
          <a:prstGeom prst="roundRect">
            <a:avLst>
              <a:gd name="adj" fmla="val 3830"/>
            </a:avLst>
          </a:prstGeom>
          <a:solidFill>
            <a:srgbClr val="F4F2FB"/>
          </a:solidFill>
          <a:ln/>
        </p:spPr>
      </p:sp>
      <p:sp>
        <p:nvSpPr>
          <p:cNvPr id="18" name="Shape 16"/>
          <p:cNvSpPr/>
          <p:nvPr/>
        </p:nvSpPr>
        <p:spPr>
          <a:xfrm>
            <a:off x="8229600" y="1828800"/>
            <a:ext cx="3566160" cy="502920"/>
          </a:xfrm>
          <a:prstGeom prst="roundRect">
            <a:avLst>
              <a:gd name="adj" fmla="val 16364"/>
            </a:avLst>
          </a:prstGeom>
          <a:solidFill>
            <a:srgbClr val="6C4CE0"/>
          </a:solidFill>
          <a:ln/>
        </p:spPr>
      </p:sp>
      <p:sp>
        <p:nvSpPr>
          <p:cNvPr id="19" name="Shape 17"/>
          <p:cNvSpPr/>
          <p:nvPr/>
        </p:nvSpPr>
        <p:spPr>
          <a:xfrm>
            <a:off x="8229600" y="2103120"/>
            <a:ext cx="3566160" cy="228600"/>
          </a:xfrm>
          <a:prstGeom prst="rect">
            <a:avLst/>
          </a:prstGeom>
          <a:solidFill>
            <a:srgbClr val="6C4CE0"/>
          </a:solidFill>
          <a:ln/>
        </p:spPr>
      </p:sp>
      <p:sp>
        <p:nvSpPr>
          <p:cNvPr id="20" name="Text 18"/>
          <p:cNvSpPr/>
          <p:nvPr/>
        </p:nvSpPr>
        <p:spPr>
          <a:xfrm>
            <a:off x="8394192" y="1828800"/>
            <a:ext cx="457200" cy="502920"/>
          </a:xfrm>
          <a:prstGeom prst="rect">
            <a:avLst/>
          </a:prstGeom>
          <a:noFill/>
          <a:ln/>
        </p:spPr>
        <p:txBody>
          <a:bodyPr wrap="square"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1" name="Text 19"/>
          <p:cNvSpPr/>
          <p:nvPr/>
        </p:nvSpPr>
        <p:spPr>
          <a:xfrm>
            <a:off x="8823960" y="1828800"/>
            <a:ext cx="278892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Database</a:t>
            </a:r>
            <a:endParaRPr lang="en-US" sz="1300" dirty="0"/>
          </a:p>
        </p:txBody>
      </p:sp>
      <p:sp>
        <p:nvSpPr>
          <p:cNvPr id="22" name="Text 20"/>
          <p:cNvSpPr/>
          <p:nvPr/>
        </p:nvSpPr>
        <p:spPr>
          <a:xfrm>
            <a:off x="8430768" y="2487168"/>
            <a:ext cx="3163824" cy="1325880"/>
          </a:xfrm>
          <a:prstGeom prst="rect">
            <a:avLst/>
          </a:prstGeom>
          <a:noFill/>
          <a:ln/>
        </p:spPr>
        <p:txBody>
          <a:bodyPr wrap="square" rtlCol="0" anchor="t"/>
          <a:lstStyle/>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MySQL</a:t>
            </a:r>
            <a:endParaRPr lang="en-US" sz="1100" dirty="0"/>
          </a:p>
        </p:txBody>
      </p:sp>
      <p:sp>
        <p:nvSpPr>
          <p:cNvPr id="23" name="Shape 21"/>
          <p:cNvSpPr/>
          <p:nvPr/>
        </p:nvSpPr>
        <p:spPr>
          <a:xfrm>
            <a:off x="640080" y="4233672"/>
            <a:ext cx="3566160" cy="2148840"/>
          </a:xfrm>
          <a:prstGeom prst="roundRect">
            <a:avLst>
              <a:gd name="adj" fmla="val 3830"/>
            </a:avLst>
          </a:prstGeom>
          <a:solidFill>
            <a:srgbClr val="F4F2FB"/>
          </a:solidFill>
          <a:ln/>
        </p:spPr>
      </p:sp>
      <p:sp>
        <p:nvSpPr>
          <p:cNvPr id="24" name="Shape 22"/>
          <p:cNvSpPr/>
          <p:nvPr/>
        </p:nvSpPr>
        <p:spPr>
          <a:xfrm>
            <a:off x="640080" y="4233672"/>
            <a:ext cx="3566160" cy="502920"/>
          </a:xfrm>
          <a:prstGeom prst="roundRect">
            <a:avLst>
              <a:gd name="adj" fmla="val 16364"/>
            </a:avLst>
          </a:prstGeom>
          <a:solidFill>
            <a:srgbClr val="6C4CE0"/>
          </a:solidFill>
          <a:ln/>
        </p:spPr>
      </p:sp>
      <p:sp>
        <p:nvSpPr>
          <p:cNvPr id="25" name="Shape 23"/>
          <p:cNvSpPr/>
          <p:nvPr/>
        </p:nvSpPr>
        <p:spPr>
          <a:xfrm>
            <a:off x="640080" y="4507992"/>
            <a:ext cx="3566160" cy="228600"/>
          </a:xfrm>
          <a:prstGeom prst="rect">
            <a:avLst/>
          </a:prstGeom>
          <a:solidFill>
            <a:srgbClr val="6C4CE0"/>
          </a:solidFill>
          <a:ln/>
        </p:spPr>
      </p:sp>
      <p:sp>
        <p:nvSpPr>
          <p:cNvPr id="26" name="Text 24"/>
          <p:cNvSpPr/>
          <p:nvPr/>
        </p:nvSpPr>
        <p:spPr>
          <a:xfrm>
            <a:off x="804672" y="4233672"/>
            <a:ext cx="457200" cy="502920"/>
          </a:xfrm>
          <a:prstGeom prst="rect">
            <a:avLst/>
          </a:prstGeom>
          <a:noFill/>
          <a:ln/>
        </p:spPr>
        <p:txBody>
          <a:bodyPr wrap="square"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7" name="Text 25"/>
          <p:cNvSpPr/>
          <p:nvPr/>
        </p:nvSpPr>
        <p:spPr>
          <a:xfrm>
            <a:off x="1234440" y="4233672"/>
            <a:ext cx="278892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Dev Tools</a:t>
            </a:r>
            <a:endParaRPr lang="en-US" sz="1300" dirty="0"/>
          </a:p>
        </p:txBody>
      </p:sp>
      <p:sp>
        <p:nvSpPr>
          <p:cNvPr id="28" name="Text 26"/>
          <p:cNvSpPr/>
          <p:nvPr/>
        </p:nvSpPr>
        <p:spPr>
          <a:xfrm>
            <a:off x="841248" y="4892040"/>
            <a:ext cx="3163824" cy="1325880"/>
          </a:xfrm>
          <a:prstGeom prst="rect">
            <a:avLst/>
          </a:prstGeom>
          <a:noFill/>
          <a:ln/>
        </p:spPr>
        <p:txBody>
          <a:bodyPr wrap="square" rtlCol="0" anchor="t"/>
          <a:lstStyle/>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VS Code / IntelliJ IDEA</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Git / GitHub</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MySQL Workbench</a:t>
            </a:r>
            <a:endParaRPr lang="en-US" sz="1100" dirty="0"/>
          </a:p>
        </p:txBody>
      </p:sp>
      <p:sp>
        <p:nvSpPr>
          <p:cNvPr id="29" name="Shape 27"/>
          <p:cNvSpPr/>
          <p:nvPr/>
        </p:nvSpPr>
        <p:spPr>
          <a:xfrm>
            <a:off x="4434840" y="4233672"/>
            <a:ext cx="3566160" cy="2148840"/>
          </a:xfrm>
          <a:prstGeom prst="roundRect">
            <a:avLst>
              <a:gd name="adj" fmla="val 3830"/>
            </a:avLst>
          </a:prstGeom>
          <a:solidFill>
            <a:srgbClr val="F4F2FB"/>
          </a:solidFill>
          <a:ln/>
        </p:spPr>
      </p:sp>
      <p:sp>
        <p:nvSpPr>
          <p:cNvPr id="30" name="Shape 28"/>
          <p:cNvSpPr/>
          <p:nvPr/>
        </p:nvSpPr>
        <p:spPr>
          <a:xfrm>
            <a:off x="4434840" y="4233672"/>
            <a:ext cx="3566160" cy="502920"/>
          </a:xfrm>
          <a:prstGeom prst="roundRect">
            <a:avLst>
              <a:gd name="adj" fmla="val 16364"/>
            </a:avLst>
          </a:prstGeom>
          <a:solidFill>
            <a:srgbClr val="6C4CE0"/>
          </a:solidFill>
          <a:ln/>
        </p:spPr>
      </p:sp>
      <p:sp>
        <p:nvSpPr>
          <p:cNvPr id="31" name="Shape 29"/>
          <p:cNvSpPr/>
          <p:nvPr/>
        </p:nvSpPr>
        <p:spPr>
          <a:xfrm>
            <a:off x="4434840" y="4507992"/>
            <a:ext cx="3566160" cy="228600"/>
          </a:xfrm>
          <a:prstGeom prst="rect">
            <a:avLst/>
          </a:prstGeom>
          <a:solidFill>
            <a:srgbClr val="6C4CE0"/>
          </a:solidFill>
          <a:ln/>
        </p:spPr>
      </p:sp>
      <p:sp>
        <p:nvSpPr>
          <p:cNvPr id="32" name="Text 30"/>
          <p:cNvSpPr/>
          <p:nvPr/>
        </p:nvSpPr>
        <p:spPr>
          <a:xfrm>
            <a:off x="4599432" y="4233672"/>
            <a:ext cx="457200" cy="502920"/>
          </a:xfrm>
          <a:prstGeom prst="rect">
            <a:avLst/>
          </a:prstGeom>
          <a:noFill/>
          <a:ln/>
        </p:spPr>
        <p:txBody>
          <a:bodyPr wrap="square"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5029200" y="4233672"/>
            <a:ext cx="2788920" cy="5029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Algorithms</a:t>
            </a:r>
            <a:endParaRPr lang="en-US" sz="1300" dirty="0"/>
          </a:p>
        </p:txBody>
      </p:sp>
      <p:sp>
        <p:nvSpPr>
          <p:cNvPr id="34" name="Text 32"/>
          <p:cNvSpPr/>
          <p:nvPr/>
        </p:nvSpPr>
        <p:spPr>
          <a:xfrm>
            <a:off x="4636008" y="4892040"/>
            <a:ext cx="3163824" cy="1325880"/>
          </a:xfrm>
          <a:prstGeom prst="rect">
            <a:avLst/>
          </a:prstGeom>
          <a:noFill/>
          <a:ln/>
        </p:spPr>
        <p:txBody>
          <a:bodyPr wrap="square" rtlCol="0" anchor="t"/>
          <a:lstStyle/>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Hashing</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String similarity</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Sorting</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Searching</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Heap / Priority Queue</a:t>
            </a:r>
            <a:endParaRPr lang="en-US" sz="1100" dirty="0"/>
          </a:p>
          <a:p>
            <a:pPr marL="152400" indent="-152400">
              <a:lnSpc>
                <a:spcPct val="135000"/>
              </a:lnSpc>
              <a:buSzPct val="100000"/>
              <a:buChar char="●"/>
            </a:pPr>
            <a:r>
              <a:rPr lang="en-US" sz="1100" dirty="0">
                <a:solidFill>
                  <a:srgbClr val="241C4E"/>
                </a:solidFill>
                <a:latin typeface="Arial" pitchFamily="34" charset="0"/>
                <a:ea typeface="Arial" pitchFamily="34" charset="-122"/>
                <a:cs typeface="Arial" pitchFamily="34" charset="-120"/>
              </a:rPr>
              <a:t>Trie</a:t>
            </a:r>
            <a:endParaRPr lang="en-US" sz="1100" dirty="0"/>
          </a:p>
        </p:txBody>
      </p:sp>
      <p:sp>
        <p:nvSpPr>
          <p:cNvPr id="35" name="Text 33"/>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36" name="Text 3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04 — INFRASTRUCTURE</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Hardware Requirements</a:t>
            </a:r>
            <a:endParaRPr lang="en-US" sz="3000" dirty="0"/>
          </a:p>
        </p:txBody>
      </p:sp>
      <p:sp>
        <p:nvSpPr>
          <p:cNvPr id="4" name="Shape 2"/>
          <p:cNvSpPr/>
          <p:nvPr/>
        </p:nvSpPr>
        <p:spPr>
          <a:xfrm>
            <a:off x="640080" y="1783080"/>
            <a:ext cx="5257800" cy="1280160"/>
          </a:xfrm>
          <a:prstGeom prst="roundRect">
            <a:avLst>
              <a:gd name="adj" fmla="val 5714"/>
            </a:avLst>
          </a:prstGeom>
          <a:solidFill>
            <a:srgbClr val="F4F2FB"/>
          </a:solidFill>
          <a:ln/>
        </p:spPr>
      </p:sp>
      <p:sp>
        <p:nvSpPr>
          <p:cNvPr id="5" name="Shape 3"/>
          <p:cNvSpPr/>
          <p:nvPr/>
        </p:nvSpPr>
        <p:spPr>
          <a:xfrm>
            <a:off x="841248" y="2075688"/>
            <a:ext cx="685800" cy="685800"/>
          </a:xfrm>
          <a:prstGeom prst="roundRect">
            <a:avLst>
              <a:gd name="adj" fmla="val 16000"/>
            </a:avLst>
          </a:prstGeom>
          <a:solidFill>
            <a:srgbClr val="241C4E"/>
          </a:solidFill>
          <a:ln/>
        </p:spPr>
      </p:sp>
      <p:sp>
        <p:nvSpPr>
          <p:cNvPr id="6" name="Text 4"/>
          <p:cNvSpPr/>
          <p:nvPr/>
        </p:nvSpPr>
        <p:spPr>
          <a:xfrm>
            <a:off x="841248" y="2075688"/>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691640" y="1947672"/>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Processor</a:t>
            </a:r>
            <a:endParaRPr lang="en-US" sz="1350" dirty="0"/>
          </a:p>
        </p:txBody>
      </p:sp>
      <p:sp>
        <p:nvSpPr>
          <p:cNvPr id="8" name="Text 6"/>
          <p:cNvSpPr/>
          <p:nvPr/>
        </p:nvSpPr>
        <p:spPr>
          <a:xfrm>
            <a:off x="1691640" y="2313432"/>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Intel Core i5 (10th Gen) or AMD Ryzen 5, or better</a:t>
            </a:r>
            <a:endParaRPr lang="en-US" sz="1050" dirty="0"/>
          </a:p>
        </p:txBody>
      </p:sp>
      <p:sp>
        <p:nvSpPr>
          <p:cNvPr id="9" name="Shape 7"/>
          <p:cNvSpPr/>
          <p:nvPr/>
        </p:nvSpPr>
        <p:spPr>
          <a:xfrm>
            <a:off x="6217920" y="1783080"/>
            <a:ext cx="5257800" cy="1280160"/>
          </a:xfrm>
          <a:prstGeom prst="roundRect">
            <a:avLst>
              <a:gd name="adj" fmla="val 5714"/>
            </a:avLst>
          </a:prstGeom>
          <a:solidFill>
            <a:srgbClr val="F4F2FB"/>
          </a:solidFill>
          <a:ln/>
        </p:spPr>
      </p:sp>
      <p:sp>
        <p:nvSpPr>
          <p:cNvPr id="10" name="Shape 8"/>
          <p:cNvSpPr/>
          <p:nvPr/>
        </p:nvSpPr>
        <p:spPr>
          <a:xfrm>
            <a:off x="6419088" y="2075688"/>
            <a:ext cx="685800" cy="685800"/>
          </a:xfrm>
          <a:prstGeom prst="roundRect">
            <a:avLst>
              <a:gd name="adj" fmla="val 16000"/>
            </a:avLst>
          </a:prstGeom>
          <a:solidFill>
            <a:srgbClr val="241C4E"/>
          </a:solidFill>
          <a:ln/>
        </p:spPr>
      </p:sp>
      <p:sp>
        <p:nvSpPr>
          <p:cNvPr id="11" name="Text 9"/>
          <p:cNvSpPr/>
          <p:nvPr/>
        </p:nvSpPr>
        <p:spPr>
          <a:xfrm>
            <a:off x="6419088" y="2075688"/>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7269480" y="1947672"/>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RAM</a:t>
            </a:r>
            <a:endParaRPr lang="en-US" sz="1350" dirty="0"/>
          </a:p>
        </p:txBody>
      </p:sp>
      <p:sp>
        <p:nvSpPr>
          <p:cNvPr id="13" name="Text 11"/>
          <p:cNvSpPr/>
          <p:nvPr/>
        </p:nvSpPr>
        <p:spPr>
          <a:xfrm>
            <a:off x="7269480" y="2313432"/>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At least 8 GB, 16 GB is better for training the model</a:t>
            </a:r>
            <a:endParaRPr lang="en-US" sz="1050" dirty="0"/>
          </a:p>
        </p:txBody>
      </p:sp>
      <p:sp>
        <p:nvSpPr>
          <p:cNvPr id="14" name="Shape 12"/>
          <p:cNvSpPr/>
          <p:nvPr/>
        </p:nvSpPr>
        <p:spPr>
          <a:xfrm>
            <a:off x="640080" y="3264408"/>
            <a:ext cx="5257800" cy="1280160"/>
          </a:xfrm>
          <a:prstGeom prst="roundRect">
            <a:avLst>
              <a:gd name="adj" fmla="val 5714"/>
            </a:avLst>
          </a:prstGeom>
          <a:solidFill>
            <a:srgbClr val="F4F2FB"/>
          </a:solidFill>
          <a:ln/>
        </p:spPr>
      </p:sp>
      <p:sp>
        <p:nvSpPr>
          <p:cNvPr id="15" name="Shape 13"/>
          <p:cNvSpPr/>
          <p:nvPr/>
        </p:nvSpPr>
        <p:spPr>
          <a:xfrm>
            <a:off x="841248" y="3557016"/>
            <a:ext cx="685800" cy="685800"/>
          </a:xfrm>
          <a:prstGeom prst="roundRect">
            <a:avLst>
              <a:gd name="adj" fmla="val 16000"/>
            </a:avLst>
          </a:prstGeom>
          <a:solidFill>
            <a:srgbClr val="241C4E"/>
          </a:solidFill>
          <a:ln/>
        </p:spPr>
      </p:sp>
      <p:sp>
        <p:nvSpPr>
          <p:cNvPr id="16" name="Text 14"/>
          <p:cNvSpPr/>
          <p:nvPr/>
        </p:nvSpPr>
        <p:spPr>
          <a:xfrm>
            <a:off x="841248" y="3557016"/>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691640" y="3429000"/>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Storage</a:t>
            </a:r>
            <a:endParaRPr lang="en-US" sz="1350" dirty="0"/>
          </a:p>
        </p:txBody>
      </p:sp>
      <p:sp>
        <p:nvSpPr>
          <p:cNvPr id="18" name="Text 16"/>
          <p:cNvSpPr/>
          <p:nvPr/>
        </p:nvSpPr>
        <p:spPr>
          <a:xfrm>
            <a:off x="1691640" y="3794760"/>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At least 256 GB SSD, to store data, models, and logs</a:t>
            </a:r>
            <a:endParaRPr lang="en-US" sz="1050" dirty="0"/>
          </a:p>
        </p:txBody>
      </p:sp>
      <p:sp>
        <p:nvSpPr>
          <p:cNvPr id="19" name="Shape 17"/>
          <p:cNvSpPr/>
          <p:nvPr/>
        </p:nvSpPr>
        <p:spPr>
          <a:xfrm>
            <a:off x="6217920" y="3264408"/>
            <a:ext cx="5257800" cy="1280160"/>
          </a:xfrm>
          <a:prstGeom prst="roundRect">
            <a:avLst>
              <a:gd name="adj" fmla="val 5714"/>
            </a:avLst>
          </a:prstGeom>
          <a:solidFill>
            <a:srgbClr val="F4F2FB"/>
          </a:solidFill>
          <a:ln/>
        </p:spPr>
      </p:sp>
      <p:sp>
        <p:nvSpPr>
          <p:cNvPr id="20" name="Shape 18"/>
          <p:cNvSpPr/>
          <p:nvPr/>
        </p:nvSpPr>
        <p:spPr>
          <a:xfrm>
            <a:off x="6419088" y="3557016"/>
            <a:ext cx="685800" cy="685800"/>
          </a:xfrm>
          <a:prstGeom prst="roundRect">
            <a:avLst>
              <a:gd name="adj" fmla="val 16000"/>
            </a:avLst>
          </a:prstGeom>
          <a:solidFill>
            <a:srgbClr val="241C4E"/>
          </a:solidFill>
          <a:ln/>
        </p:spPr>
      </p:sp>
      <p:sp>
        <p:nvSpPr>
          <p:cNvPr id="21" name="Text 19"/>
          <p:cNvSpPr/>
          <p:nvPr/>
        </p:nvSpPr>
        <p:spPr>
          <a:xfrm>
            <a:off x="6419088" y="3557016"/>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7269480" y="3429000"/>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GPU (optional)</a:t>
            </a:r>
            <a:endParaRPr lang="en-US" sz="1350" dirty="0"/>
          </a:p>
        </p:txBody>
      </p:sp>
      <p:sp>
        <p:nvSpPr>
          <p:cNvPr id="23" name="Text 21"/>
          <p:cNvSpPr/>
          <p:nvPr/>
        </p:nvSpPr>
        <p:spPr>
          <a:xfrm>
            <a:off x="7269480" y="3794760"/>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An NVIDIA GPU makes training the model faster</a:t>
            </a:r>
            <a:endParaRPr lang="en-US" sz="1050" dirty="0"/>
          </a:p>
        </p:txBody>
      </p:sp>
      <p:sp>
        <p:nvSpPr>
          <p:cNvPr id="24" name="Shape 22"/>
          <p:cNvSpPr/>
          <p:nvPr/>
        </p:nvSpPr>
        <p:spPr>
          <a:xfrm>
            <a:off x="640080" y="4745736"/>
            <a:ext cx="5257800" cy="1280160"/>
          </a:xfrm>
          <a:prstGeom prst="roundRect">
            <a:avLst>
              <a:gd name="adj" fmla="val 5714"/>
            </a:avLst>
          </a:prstGeom>
          <a:solidFill>
            <a:srgbClr val="F4F2FB"/>
          </a:solidFill>
          <a:ln/>
        </p:spPr>
      </p:sp>
      <p:sp>
        <p:nvSpPr>
          <p:cNvPr id="25" name="Shape 23"/>
          <p:cNvSpPr/>
          <p:nvPr/>
        </p:nvSpPr>
        <p:spPr>
          <a:xfrm>
            <a:off x="841248" y="5038344"/>
            <a:ext cx="685800" cy="685800"/>
          </a:xfrm>
          <a:prstGeom prst="roundRect">
            <a:avLst>
              <a:gd name="adj" fmla="val 16000"/>
            </a:avLst>
          </a:prstGeom>
          <a:solidFill>
            <a:srgbClr val="241C4E"/>
          </a:solidFill>
          <a:ln/>
        </p:spPr>
      </p:sp>
      <p:sp>
        <p:nvSpPr>
          <p:cNvPr id="26" name="Text 24"/>
          <p:cNvSpPr/>
          <p:nvPr/>
        </p:nvSpPr>
        <p:spPr>
          <a:xfrm>
            <a:off x="841248" y="5038344"/>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1691640" y="4910328"/>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Network</a:t>
            </a:r>
            <a:endParaRPr lang="en-US" sz="1350" dirty="0"/>
          </a:p>
        </p:txBody>
      </p:sp>
      <p:sp>
        <p:nvSpPr>
          <p:cNvPr id="28" name="Text 26"/>
          <p:cNvSpPr/>
          <p:nvPr/>
        </p:nvSpPr>
        <p:spPr>
          <a:xfrm>
            <a:off x="1691640" y="5276088"/>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A stable internet connection to collect data and go online</a:t>
            </a:r>
            <a:endParaRPr lang="en-US" sz="1050" dirty="0"/>
          </a:p>
        </p:txBody>
      </p:sp>
      <p:sp>
        <p:nvSpPr>
          <p:cNvPr id="29" name="Shape 27"/>
          <p:cNvSpPr/>
          <p:nvPr/>
        </p:nvSpPr>
        <p:spPr>
          <a:xfrm>
            <a:off x="6217920" y="4745736"/>
            <a:ext cx="5257800" cy="1280160"/>
          </a:xfrm>
          <a:prstGeom prst="roundRect">
            <a:avLst>
              <a:gd name="adj" fmla="val 5714"/>
            </a:avLst>
          </a:prstGeom>
          <a:solidFill>
            <a:srgbClr val="F4F2FB"/>
          </a:solidFill>
          <a:ln/>
        </p:spPr>
      </p:sp>
      <p:sp>
        <p:nvSpPr>
          <p:cNvPr id="30" name="Shape 28"/>
          <p:cNvSpPr/>
          <p:nvPr/>
        </p:nvSpPr>
        <p:spPr>
          <a:xfrm>
            <a:off x="6419088" y="5038344"/>
            <a:ext cx="685800" cy="685800"/>
          </a:xfrm>
          <a:prstGeom prst="roundRect">
            <a:avLst>
              <a:gd name="adj" fmla="val 16000"/>
            </a:avLst>
          </a:prstGeom>
          <a:solidFill>
            <a:srgbClr val="241C4E"/>
          </a:solidFill>
          <a:ln/>
        </p:spPr>
      </p:sp>
      <p:sp>
        <p:nvSpPr>
          <p:cNvPr id="31" name="Text 29"/>
          <p:cNvSpPr/>
          <p:nvPr/>
        </p:nvSpPr>
        <p:spPr>
          <a:xfrm>
            <a:off x="6419088" y="5038344"/>
            <a:ext cx="685800" cy="685800"/>
          </a:xfrm>
          <a:prstGeom prst="rect">
            <a:avLst/>
          </a:prstGeom>
          <a:noFill/>
          <a:ln/>
        </p:spPr>
        <p:txBody>
          <a:bodyPr wrap="square"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32" name="Text 30"/>
          <p:cNvSpPr/>
          <p:nvPr/>
        </p:nvSpPr>
        <p:spPr>
          <a:xfrm>
            <a:off x="7269480" y="4910328"/>
            <a:ext cx="4023360" cy="36576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Deployment</a:t>
            </a:r>
            <a:endParaRPr lang="en-US" sz="1350" dirty="0"/>
          </a:p>
        </p:txBody>
      </p:sp>
      <p:sp>
        <p:nvSpPr>
          <p:cNvPr id="33" name="Text 31"/>
          <p:cNvSpPr/>
          <p:nvPr/>
        </p:nvSpPr>
        <p:spPr>
          <a:xfrm>
            <a:off x="7269480" y="5276088"/>
            <a:ext cx="4023360" cy="658368"/>
          </a:xfrm>
          <a:prstGeom prst="rect">
            <a:avLst/>
          </a:prstGeom>
          <a:noFill/>
          <a:ln/>
        </p:spPr>
        <p:txBody>
          <a:bodyPr wrap="square" rtlCol="0" anchor="ctr"/>
          <a:lstStyle/>
          <a:p>
            <a:pPr marL="0" indent="0">
              <a:lnSpc>
                <a:spcPct val="120000"/>
              </a:lnSpc>
              <a:buNone/>
            </a:pPr>
            <a:r>
              <a:rPr lang="en-US" sz="1050" dirty="0">
                <a:solidFill>
                  <a:srgbClr val="6E6690"/>
                </a:solidFill>
                <a:latin typeface="Arial" pitchFamily="34" charset="0"/>
                <a:ea typeface="Arial" pitchFamily="34" charset="-122"/>
                <a:cs typeface="Arial" pitchFamily="34" charset="-120"/>
              </a:rPr>
              <a:t>A cloud server (like AWS or GCP) to run the finished app</a:t>
            </a:r>
            <a:endParaRPr lang="en-US" sz="1050" dirty="0"/>
          </a:p>
        </p:txBody>
      </p:sp>
      <p:sp>
        <p:nvSpPr>
          <p:cNvPr id="34" name="Text 3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35" name="Text 3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4"/>
          <p:cNvSpPr/>
          <p:nvPr/>
        </p:nvSpPr>
        <p:spPr>
          <a:xfrm>
            <a:off x="640080" y="457200"/>
            <a:ext cx="7315200" cy="320040"/>
          </a:xfrm>
          <a:prstGeom prst="rect">
            <a:avLst/>
          </a:prstGeom>
          <a:noFill/>
          <a:ln/>
        </p:spPr>
        <p:txBody>
          <a:bodyPr wrap="square" rtlCol="0" anchor="ctr"/>
          <a:lstStyle/>
          <a:p>
            <a:pPr marL="0" indent="0" algn="l">
              <a:buNone/>
            </a:pPr>
            <a:r>
              <a:rPr lang="en-US" sz="1300" b="1" dirty="0">
                <a:solidFill>
                  <a:srgbClr val="6C4CE0"/>
                </a:solidFill>
                <a:latin typeface="Arial" pitchFamily="34" charset="0"/>
                <a:ea typeface="Arial" pitchFamily="34" charset="-122"/>
                <a:cs typeface="Arial" pitchFamily="34" charset="-120"/>
              </a:rPr>
              <a:t>05 — HOW IT WORKS</a:t>
            </a:r>
            <a:endParaRPr lang="en-US" sz="1300" dirty="0"/>
          </a:p>
        </p:txBody>
      </p:sp>
      <p:sp>
        <p:nvSpPr>
          <p:cNvPr id="5" name="Text 5"/>
          <p:cNvSpPr/>
          <p:nvPr/>
        </p:nvSpPr>
        <p:spPr>
          <a:xfrm>
            <a:off x="640080" y="777240"/>
            <a:ext cx="10515600" cy="731520"/>
          </a:xfrm>
          <a:prstGeom prst="rect">
            <a:avLst/>
          </a:prstGeom>
          <a:noFill/>
          <a:ln/>
        </p:spPr>
        <p:txBody>
          <a:bodyPr wrap="square" rtlCol="0" anchor="ctr"/>
          <a:lstStyle/>
          <a:p>
            <a:pPr marL="0" indent="0" algn="l">
              <a:buNone/>
            </a:pPr>
            <a:r>
              <a:rPr lang="en-US" sz="3000" b="1" dirty="0">
                <a:solidFill>
                  <a:srgbClr val="241C4E"/>
                </a:solidFill>
                <a:latin typeface="Arial" pitchFamily="34" charset="0"/>
                <a:ea typeface="Arial" pitchFamily="34" charset="-122"/>
                <a:cs typeface="Arial" pitchFamily="34" charset="-120"/>
              </a:rPr>
              <a:t>Methodology</a:t>
            </a:r>
            <a:endParaRPr lang="en-US" sz="3000" dirty="0"/>
          </a:p>
        </p:txBody>
      </p:sp>
      <p:sp>
        <p:nvSpPr>
          <p:cNvPr id="6" name="Shape 6"/>
          <p:cNvSpPr/>
          <p:nvPr/>
        </p:nvSpPr>
        <p:spPr>
          <a:xfrm>
            <a:off x="1516380" y="3386284"/>
            <a:ext cx="8763000" cy="27432"/>
          </a:xfrm>
          <a:prstGeom prst="rect">
            <a:avLst/>
          </a:prstGeom>
          <a:solidFill>
            <a:srgbClr val="D9CFF5"/>
          </a:solidFill>
          <a:ln/>
        </p:spPr>
      </p:sp>
      <p:sp>
        <p:nvSpPr>
          <p:cNvPr id="7" name="Shape 7"/>
          <p:cNvSpPr/>
          <p:nvPr/>
        </p:nvSpPr>
        <p:spPr>
          <a:xfrm>
            <a:off x="1150620" y="3034240"/>
            <a:ext cx="731520" cy="731520"/>
          </a:xfrm>
          <a:prstGeom prst="ellipse">
            <a:avLst/>
          </a:prstGeom>
          <a:solidFill>
            <a:srgbClr val="6C4CE0"/>
          </a:solidFill>
          <a:ln/>
        </p:spPr>
      </p:sp>
      <p:sp>
        <p:nvSpPr>
          <p:cNvPr id="8" name="Text 8"/>
          <p:cNvSpPr/>
          <p:nvPr/>
        </p:nvSpPr>
        <p:spPr>
          <a:xfrm>
            <a:off x="11506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9" name="Shape 9"/>
          <p:cNvSpPr/>
          <p:nvPr/>
        </p:nvSpPr>
        <p:spPr>
          <a:xfrm>
            <a:off x="1557528" y="2979376"/>
            <a:ext cx="320040" cy="320040"/>
          </a:xfrm>
          <a:prstGeom prst="ellipse">
            <a:avLst/>
          </a:prstGeom>
          <a:solidFill>
            <a:srgbClr val="00D4C8"/>
          </a:solidFill>
          <a:ln/>
        </p:spPr>
      </p:sp>
      <p:sp>
        <p:nvSpPr>
          <p:cNvPr id="10" name="Text 10"/>
          <p:cNvSpPr/>
          <p:nvPr/>
        </p:nvSpPr>
        <p:spPr>
          <a:xfrm>
            <a:off x="15575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1</a:t>
            </a:r>
            <a:endParaRPr lang="en-US" sz="1100" dirty="0"/>
          </a:p>
        </p:txBody>
      </p:sp>
      <p:sp>
        <p:nvSpPr>
          <p:cNvPr id="11" name="Text 11"/>
          <p:cNvSpPr/>
          <p:nvPr/>
        </p:nvSpPr>
        <p:spPr>
          <a:xfrm>
            <a:off x="666380" y="185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Data Collection</a:t>
            </a:r>
            <a:endParaRPr lang="en-US" sz="1200" dirty="0"/>
          </a:p>
        </p:txBody>
      </p:sp>
      <p:sp>
        <p:nvSpPr>
          <p:cNvPr id="12" name="Text 12"/>
          <p:cNvSpPr/>
          <p:nvPr/>
        </p:nvSpPr>
        <p:spPr>
          <a:xfrm>
            <a:off x="666380" y="221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Collect title, description, price, and photos from each seller.</a:t>
            </a:r>
            <a:endParaRPr lang="en-US" sz="1000" dirty="0"/>
          </a:p>
        </p:txBody>
      </p:sp>
      <p:sp>
        <p:nvSpPr>
          <p:cNvPr id="13" name="Shape 13"/>
          <p:cNvSpPr/>
          <p:nvPr/>
        </p:nvSpPr>
        <p:spPr>
          <a:xfrm>
            <a:off x="2903220" y="3034240"/>
            <a:ext cx="731520" cy="731520"/>
          </a:xfrm>
          <a:prstGeom prst="ellipse">
            <a:avLst/>
          </a:prstGeom>
          <a:solidFill>
            <a:srgbClr val="241C4E"/>
          </a:solidFill>
          <a:ln/>
        </p:spPr>
      </p:sp>
      <p:sp>
        <p:nvSpPr>
          <p:cNvPr id="14" name="Text 14"/>
          <p:cNvSpPr/>
          <p:nvPr/>
        </p:nvSpPr>
        <p:spPr>
          <a:xfrm>
            <a:off x="29032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5" name="Shape 15"/>
          <p:cNvSpPr/>
          <p:nvPr/>
        </p:nvSpPr>
        <p:spPr>
          <a:xfrm>
            <a:off x="3310128" y="2979376"/>
            <a:ext cx="320040" cy="320040"/>
          </a:xfrm>
          <a:prstGeom prst="ellipse">
            <a:avLst/>
          </a:prstGeom>
          <a:solidFill>
            <a:srgbClr val="00D4C8"/>
          </a:solidFill>
          <a:ln/>
        </p:spPr>
      </p:sp>
      <p:sp>
        <p:nvSpPr>
          <p:cNvPr id="16" name="Text 16"/>
          <p:cNvSpPr/>
          <p:nvPr/>
        </p:nvSpPr>
        <p:spPr>
          <a:xfrm>
            <a:off x="33101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2</a:t>
            </a:r>
            <a:endParaRPr lang="en-US" sz="1100" dirty="0"/>
          </a:p>
        </p:txBody>
      </p:sp>
      <p:sp>
        <p:nvSpPr>
          <p:cNvPr id="17" name="Text 17"/>
          <p:cNvSpPr/>
          <p:nvPr/>
        </p:nvSpPr>
        <p:spPr>
          <a:xfrm>
            <a:off x="2418980" y="390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Preprocessing &amp; Indexing</a:t>
            </a:r>
            <a:endParaRPr lang="en-US" sz="1200" dirty="0"/>
          </a:p>
        </p:txBody>
      </p:sp>
      <p:sp>
        <p:nvSpPr>
          <p:cNvPr id="18" name="Text 18"/>
          <p:cNvSpPr/>
          <p:nvPr/>
        </p:nvSpPr>
        <p:spPr>
          <a:xfrm>
            <a:off x="2418980" y="426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Clean up the text and organize it so it's easy to search.</a:t>
            </a:r>
            <a:endParaRPr lang="en-US" sz="1000" dirty="0"/>
          </a:p>
        </p:txBody>
      </p:sp>
      <p:sp>
        <p:nvSpPr>
          <p:cNvPr id="19" name="Shape 19"/>
          <p:cNvSpPr/>
          <p:nvPr/>
        </p:nvSpPr>
        <p:spPr>
          <a:xfrm>
            <a:off x="4655820" y="3034240"/>
            <a:ext cx="731520" cy="731520"/>
          </a:xfrm>
          <a:prstGeom prst="ellipse">
            <a:avLst/>
          </a:prstGeom>
          <a:solidFill>
            <a:srgbClr val="6C4CE0"/>
          </a:solidFill>
          <a:ln/>
        </p:spPr>
      </p:sp>
      <p:sp>
        <p:nvSpPr>
          <p:cNvPr id="20" name="Text 20"/>
          <p:cNvSpPr/>
          <p:nvPr/>
        </p:nvSpPr>
        <p:spPr>
          <a:xfrm>
            <a:off x="46558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21" name="Shape 21"/>
          <p:cNvSpPr/>
          <p:nvPr/>
        </p:nvSpPr>
        <p:spPr>
          <a:xfrm>
            <a:off x="5062728" y="2979376"/>
            <a:ext cx="320040" cy="320040"/>
          </a:xfrm>
          <a:prstGeom prst="ellipse">
            <a:avLst/>
          </a:prstGeom>
          <a:solidFill>
            <a:srgbClr val="00D4C8"/>
          </a:solidFill>
          <a:ln/>
        </p:spPr>
      </p:sp>
      <p:sp>
        <p:nvSpPr>
          <p:cNvPr id="22" name="Text 22"/>
          <p:cNvSpPr/>
          <p:nvPr/>
        </p:nvSpPr>
        <p:spPr>
          <a:xfrm>
            <a:off x="50627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3</a:t>
            </a:r>
            <a:endParaRPr lang="en-US" sz="1100" dirty="0"/>
          </a:p>
        </p:txBody>
      </p:sp>
      <p:sp>
        <p:nvSpPr>
          <p:cNvPr id="23" name="Text 23"/>
          <p:cNvSpPr/>
          <p:nvPr/>
        </p:nvSpPr>
        <p:spPr>
          <a:xfrm>
            <a:off x="4171580" y="185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Candidate Search</a:t>
            </a:r>
            <a:endParaRPr lang="en-US" sz="1200" dirty="0"/>
          </a:p>
        </p:txBody>
      </p:sp>
      <p:sp>
        <p:nvSpPr>
          <p:cNvPr id="24" name="Text 24"/>
          <p:cNvSpPr/>
          <p:nvPr/>
        </p:nvSpPr>
        <p:spPr>
          <a:xfrm>
            <a:off x="4171580" y="221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Quickly shortlist listings that share a brand or model name.</a:t>
            </a:r>
            <a:endParaRPr lang="en-US" sz="1000" dirty="0"/>
          </a:p>
        </p:txBody>
      </p:sp>
      <p:sp>
        <p:nvSpPr>
          <p:cNvPr id="25" name="Shape 25"/>
          <p:cNvSpPr/>
          <p:nvPr/>
        </p:nvSpPr>
        <p:spPr>
          <a:xfrm>
            <a:off x="6408420" y="3034240"/>
            <a:ext cx="731520" cy="731520"/>
          </a:xfrm>
          <a:prstGeom prst="ellipse">
            <a:avLst/>
          </a:prstGeom>
          <a:solidFill>
            <a:srgbClr val="241C4E"/>
          </a:solidFill>
          <a:ln/>
        </p:spPr>
      </p:sp>
      <p:sp>
        <p:nvSpPr>
          <p:cNvPr id="26" name="Text 26"/>
          <p:cNvSpPr/>
          <p:nvPr/>
        </p:nvSpPr>
        <p:spPr>
          <a:xfrm>
            <a:off x="64084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27" name="Shape 27"/>
          <p:cNvSpPr/>
          <p:nvPr/>
        </p:nvSpPr>
        <p:spPr>
          <a:xfrm>
            <a:off x="6815328" y="2979376"/>
            <a:ext cx="320040" cy="320040"/>
          </a:xfrm>
          <a:prstGeom prst="ellipse">
            <a:avLst/>
          </a:prstGeom>
          <a:solidFill>
            <a:srgbClr val="00D4C8"/>
          </a:solidFill>
          <a:ln/>
        </p:spPr>
      </p:sp>
      <p:sp>
        <p:nvSpPr>
          <p:cNvPr id="28" name="Text 28"/>
          <p:cNvSpPr/>
          <p:nvPr/>
        </p:nvSpPr>
        <p:spPr>
          <a:xfrm>
            <a:off x="68153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4</a:t>
            </a:r>
            <a:endParaRPr lang="en-US" sz="1100" dirty="0"/>
          </a:p>
        </p:txBody>
      </p:sp>
      <p:sp>
        <p:nvSpPr>
          <p:cNvPr id="29" name="Text 29"/>
          <p:cNvSpPr/>
          <p:nvPr/>
        </p:nvSpPr>
        <p:spPr>
          <a:xfrm>
            <a:off x="5924180" y="390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Similarity Scoring (DP)</a:t>
            </a:r>
            <a:endParaRPr lang="en-US" sz="1200" dirty="0"/>
          </a:p>
        </p:txBody>
      </p:sp>
      <p:sp>
        <p:nvSpPr>
          <p:cNvPr id="30" name="Text 30"/>
          <p:cNvSpPr/>
          <p:nvPr/>
        </p:nvSpPr>
        <p:spPr>
          <a:xfrm>
            <a:off x="5924180" y="426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Compare titles closely, even with typos or different wording.</a:t>
            </a:r>
            <a:endParaRPr lang="en-US" sz="1000" dirty="0"/>
          </a:p>
        </p:txBody>
      </p:sp>
      <p:sp>
        <p:nvSpPr>
          <p:cNvPr id="31" name="Shape 31"/>
          <p:cNvSpPr/>
          <p:nvPr/>
        </p:nvSpPr>
        <p:spPr>
          <a:xfrm>
            <a:off x="8161020" y="3034240"/>
            <a:ext cx="731520" cy="731520"/>
          </a:xfrm>
          <a:prstGeom prst="ellipse">
            <a:avLst/>
          </a:prstGeom>
          <a:solidFill>
            <a:srgbClr val="6C4CE0"/>
          </a:solidFill>
          <a:ln/>
        </p:spPr>
      </p:sp>
      <p:sp>
        <p:nvSpPr>
          <p:cNvPr id="32" name="Text 32"/>
          <p:cNvSpPr/>
          <p:nvPr/>
        </p:nvSpPr>
        <p:spPr>
          <a:xfrm>
            <a:off x="81610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33" name="Shape 33"/>
          <p:cNvSpPr/>
          <p:nvPr/>
        </p:nvSpPr>
        <p:spPr>
          <a:xfrm>
            <a:off x="8567928" y="2979376"/>
            <a:ext cx="320040" cy="320040"/>
          </a:xfrm>
          <a:prstGeom prst="ellipse">
            <a:avLst/>
          </a:prstGeom>
          <a:solidFill>
            <a:srgbClr val="00D4C8"/>
          </a:solidFill>
          <a:ln/>
        </p:spPr>
      </p:sp>
      <p:sp>
        <p:nvSpPr>
          <p:cNvPr id="34" name="Text 34"/>
          <p:cNvSpPr/>
          <p:nvPr/>
        </p:nvSpPr>
        <p:spPr>
          <a:xfrm>
            <a:off x="85679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5</a:t>
            </a:r>
            <a:endParaRPr lang="en-US" sz="1100" dirty="0"/>
          </a:p>
        </p:txBody>
      </p:sp>
      <p:sp>
        <p:nvSpPr>
          <p:cNvPr id="35" name="Text 35"/>
          <p:cNvSpPr/>
          <p:nvPr/>
        </p:nvSpPr>
        <p:spPr>
          <a:xfrm>
            <a:off x="7676780" y="185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Matching (Max-Flow)</a:t>
            </a:r>
            <a:endParaRPr lang="en-US" sz="1200" dirty="0"/>
          </a:p>
        </p:txBody>
      </p:sp>
      <p:sp>
        <p:nvSpPr>
          <p:cNvPr id="36" name="Text 36"/>
          <p:cNvSpPr/>
          <p:nvPr/>
        </p:nvSpPr>
        <p:spPr>
          <a:xfrm>
            <a:off x="7676780" y="221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Match each listing to the right product, one-to-one, correctly.</a:t>
            </a:r>
            <a:endParaRPr lang="en-US" sz="1000" dirty="0"/>
          </a:p>
        </p:txBody>
      </p:sp>
      <p:sp>
        <p:nvSpPr>
          <p:cNvPr id="37" name="Shape 37"/>
          <p:cNvSpPr/>
          <p:nvPr/>
        </p:nvSpPr>
        <p:spPr>
          <a:xfrm>
            <a:off x="9913620" y="3034240"/>
            <a:ext cx="731520" cy="731520"/>
          </a:xfrm>
          <a:prstGeom prst="ellipse">
            <a:avLst/>
          </a:prstGeom>
          <a:solidFill>
            <a:srgbClr val="241C4E"/>
          </a:solidFill>
          <a:ln/>
        </p:spPr>
      </p:sp>
      <p:sp>
        <p:nvSpPr>
          <p:cNvPr id="38" name="Text 38"/>
          <p:cNvSpPr/>
          <p:nvPr/>
        </p:nvSpPr>
        <p:spPr>
          <a:xfrm>
            <a:off x="9913620" y="3034240"/>
            <a:ext cx="731520" cy="73152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39" name="Shape 39"/>
          <p:cNvSpPr/>
          <p:nvPr/>
        </p:nvSpPr>
        <p:spPr>
          <a:xfrm>
            <a:off x="10320528" y="2979376"/>
            <a:ext cx="320040" cy="320040"/>
          </a:xfrm>
          <a:prstGeom prst="ellipse">
            <a:avLst/>
          </a:prstGeom>
          <a:solidFill>
            <a:srgbClr val="00D4C8"/>
          </a:solidFill>
          <a:ln/>
        </p:spPr>
      </p:sp>
      <p:sp>
        <p:nvSpPr>
          <p:cNvPr id="40" name="Text 40"/>
          <p:cNvSpPr/>
          <p:nvPr/>
        </p:nvSpPr>
        <p:spPr>
          <a:xfrm>
            <a:off x="10320528" y="2979376"/>
            <a:ext cx="320040" cy="320040"/>
          </a:xfrm>
          <a:prstGeom prst="rect">
            <a:avLst/>
          </a:prstGeom>
          <a:noFill/>
          <a:ln/>
        </p:spPr>
        <p:txBody>
          <a:bodyPr wrap="square" rtlCol="0" anchor="ctr"/>
          <a:lstStyle/>
          <a:p>
            <a:pPr marL="0" indent="0" algn="ctr">
              <a:buNone/>
            </a:pPr>
            <a:r>
              <a:rPr lang="en-US" sz="1100" b="1" dirty="0">
                <a:solidFill>
                  <a:srgbClr val="241C4E"/>
                </a:solidFill>
                <a:latin typeface="Arial" pitchFamily="34" charset="0"/>
                <a:ea typeface="Arial" pitchFamily="34" charset="-122"/>
                <a:cs typeface="Arial" pitchFamily="34" charset="-120"/>
              </a:rPr>
              <a:t>6</a:t>
            </a:r>
            <a:endParaRPr lang="en-US" sz="1100" dirty="0"/>
          </a:p>
        </p:txBody>
      </p:sp>
      <p:sp>
        <p:nvSpPr>
          <p:cNvPr id="41" name="Text 41"/>
          <p:cNvSpPr/>
          <p:nvPr/>
        </p:nvSpPr>
        <p:spPr>
          <a:xfrm>
            <a:off x="9429380" y="3900000"/>
            <a:ext cx="1700000" cy="340000"/>
          </a:xfrm>
          <a:prstGeom prst="rect">
            <a:avLst/>
          </a:prstGeom>
          <a:noFill/>
          <a:ln/>
        </p:spPr>
        <p:txBody>
          <a:bodyPr wrap="square" rtlCol="0" anchor="ctr"/>
          <a:lstStyle/>
          <a:p>
            <a:pPr marL="0" indent="0" algn="ctr">
              <a:buNone/>
            </a:pPr>
            <a:r>
              <a:rPr lang="en-US" sz="1200" b="1" dirty="0">
                <a:solidFill>
                  <a:srgbClr val="241C4E"/>
                </a:solidFill>
                <a:latin typeface="Arial" pitchFamily="34" charset="0"/>
                <a:ea typeface="Arial" pitchFamily="34" charset="-122"/>
                <a:cs typeface="Arial" pitchFamily="34" charset="-120"/>
              </a:rPr>
              <a:t>Canonical Grouping</a:t>
            </a:r>
            <a:endParaRPr lang="en-US" sz="1200" dirty="0"/>
          </a:p>
        </p:txBody>
      </p:sp>
      <p:sp>
        <p:nvSpPr>
          <p:cNvPr id="42" name="Text 42"/>
          <p:cNvSpPr/>
          <p:nvPr/>
        </p:nvSpPr>
        <p:spPr>
          <a:xfrm>
            <a:off x="9429380" y="4260000"/>
            <a:ext cx="1700000" cy="650000"/>
          </a:xfrm>
          <a:prstGeom prst="rect">
            <a:avLst/>
          </a:prstGeom>
          <a:noFill/>
          <a:ln/>
        </p:spPr>
        <p:txBody>
          <a:bodyPr wrap="square" rtlCol="0" anchor="t"/>
          <a:lstStyle/>
          <a:p>
            <a:pPr marL="0" indent="0" algn="ctr">
              <a:lnSpc>
                <a:spcPct val="112000"/>
              </a:lnSpc>
              <a:buNone/>
            </a:pPr>
            <a:r>
              <a:rPr lang="en-US" sz="1000" dirty="0">
                <a:solidFill>
                  <a:srgbClr val="6E6690"/>
                </a:solidFill>
                <a:latin typeface="Arial" pitchFamily="34" charset="0"/>
                <a:ea typeface="Arial" pitchFamily="34" charset="-122"/>
                <a:cs typeface="Arial" pitchFamily="34" charset="-120"/>
              </a:rPr>
              <a:t>Group matches under one product and show every seller's price.</a:t>
            </a:r>
            <a:endParaRPr lang="en-US" sz="1000" dirty="0"/>
          </a:p>
        </p:txBody>
      </p:sp>
      <p:sp>
        <p:nvSpPr>
          <p:cNvPr id="43" name="Text 4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44" name="Text 4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6C4CE0"/>
                </a:solidFill>
                <a:latin typeface="Arial" pitchFamily="34" charset="0"/>
                <a:ea typeface="Arial" pitchFamily="34" charset="-122"/>
                <a:cs typeface="Arial" pitchFamily="34" charset="-120"/>
              </a:rPr>
              <a:t>06 — PRIOR WORK</a:t>
            </a:r>
            <a:endParaRPr lang="en-US" sz="1300" dirty="0"/>
          </a:p>
        </p:txBody>
      </p:sp>
      <p:sp>
        <p:nvSpPr>
          <p:cNvPr id="3" name="Text 1"/>
          <p:cNvSpPr/>
          <p:nvPr/>
        </p:nvSpPr>
        <p:spPr>
          <a:xfrm>
            <a:off x="640080" y="777240"/>
            <a:ext cx="10515600" cy="731520"/>
          </a:xfrm>
          <a:prstGeom prst="rect">
            <a:avLst/>
          </a:prstGeom>
          <a:noFill/>
          <a:ln/>
        </p:spPr>
        <p:txBody>
          <a:bodyPr wrap="square" rtlCol="0" anchor="ctr"/>
          <a:lstStyle/>
          <a:p>
            <a:pPr marL="0" indent="0">
              <a:buNone/>
            </a:pPr>
            <a:r>
              <a:rPr lang="en-US" sz="3000" b="1" dirty="0">
                <a:solidFill>
                  <a:srgbClr val="241C4E"/>
                </a:solidFill>
                <a:latin typeface="Arial" pitchFamily="34" charset="0"/>
                <a:ea typeface="Arial" pitchFamily="34" charset="-122"/>
                <a:cs typeface="Arial" pitchFamily="34" charset="-120"/>
              </a:rPr>
              <a:t>Literature Survey</a:t>
            </a:r>
            <a:endParaRPr lang="en-US" sz="3000" dirty="0"/>
          </a:p>
        </p:txBody>
      </p:sp>
      <p:sp>
        <p:nvSpPr>
          <p:cNvPr id="4" name="Shape 2"/>
          <p:cNvSpPr/>
          <p:nvPr/>
        </p:nvSpPr>
        <p:spPr>
          <a:xfrm>
            <a:off x="640080" y="1783080"/>
            <a:ext cx="10881360" cy="960120"/>
          </a:xfrm>
          <a:prstGeom prst="roundRect">
            <a:avLst>
              <a:gd name="adj" fmla="val 7619"/>
            </a:avLst>
          </a:prstGeom>
          <a:solidFill>
            <a:srgbClr val="F4F2FB"/>
          </a:solidFill>
          <a:ln/>
        </p:spPr>
      </p:sp>
      <p:sp>
        <p:nvSpPr>
          <p:cNvPr id="5" name="Shape 3"/>
          <p:cNvSpPr/>
          <p:nvPr/>
        </p:nvSpPr>
        <p:spPr>
          <a:xfrm>
            <a:off x="868680" y="2029968"/>
            <a:ext cx="457200" cy="457200"/>
          </a:xfrm>
          <a:prstGeom prst="ellipse">
            <a:avLst/>
          </a:prstGeom>
          <a:solidFill>
            <a:srgbClr val="00D4C8"/>
          </a:solidFill>
          <a:ln/>
        </p:spPr>
      </p:sp>
      <p:sp>
        <p:nvSpPr>
          <p:cNvPr id="6" name="Text 4"/>
          <p:cNvSpPr/>
          <p:nvPr/>
        </p:nvSpPr>
        <p:spPr>
          <a:xfrm>
            <a:off x="868680" y="2029968"/>
            <a:ext cx="457200" cy="457200"/>
          </a:xfrm>
          <a:prstGeom prst="rect">
            <a:avLst/>
          </a:prstGeom>
          <a:noFill/>
          <a:ln/>
        </p:spPr>
        <p:txBody>
          <a:bodyPr wrap="square" rtlCol="0" anchor="ctr"/>
          <a:lstStyle/>
          <a:p>
            <a:pPr marL="0" indent="0" algn="ctr">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508760" y="1874520"/>
            <a:ext cx="978408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Entity Resolution Foundations</a:t>
            </a:r>
            <a:endParaRPr lang="en-US" sz="1350" dirty="0"/>
          </a:p>
        </p:txBody>
      </p:sp>
      <p:sp>
        <p:nvSpPr>
          <p:cNvPr id="8" name="Text 6"/>
          <p:cNvSpPr/>
          <p:nvPr/>
        </p:nvSpPr>
        <p:spPr>
          <a:xfrm>
            <a:off x="1508760" y="2203704"/>
            <a:ext cx="9784080" cy="502920"/>
          </a:xfrm>
          <a:prstGeom prst="rect">
            <a:avLst/>
          </a:prstGeom>
          <a:noFill/>
          <a:ln/>
        </p:spPr>
        <p:txBody>
          <a:bodyPr wrap="square" rtlCol="0" anchor="ctr"/>
          <a:lstStyle/>
          <a:p>
            <a:pPr marL="0" indent="0">
              <a:lnSpc>
                <a:spcPct val="115000"/>
              </a:lnSpc>
              <a:buNone/>
            </a:pPr>
            <a:r>
              <a:rPr lang="en-US" sz="1050" dirty="0">
                <a:solidFill>
                  <a:srgbClr val="6E6690"/>
                </a:solidFill>
                <a:latin typeface="Arial" pitchFamily="34" charset="0"/>
                <a:ea typeface="Arial" pitchFamily="34" charset="-122"/>
                <a:cs typeface="Arial" pitchFamily="34" charset="-120"/>
              </a:rPr>
              <a:t>Early methods used simple rules and matching scores to find duplicate records — this is where our idea comes from.</a:t>
            </a:r>
            <a:endParaRPr lang="en-US" sz="1050" dirty="0"/>
          </a:p>
        </p:txBody>
      </p:sp>
      <p:sp>
        <p:nvSpPr>
          <p:cNvPr id="9" name="Shape 7"/>
          <p:cNvSpPr/>
          <p:nvPr/>
        </p:nvSpPr>
        <p:spPr>
          <a:xfrm>
            <a:off x="640080" y="2926080"/>
            <a:ext cx="10881360" cy="960120"/>
          </a:xfrm>
          <a:prstGeom prst="roundRect">
            <a:avLst>
              <a:gd name="adj" fmla="val 7619"/>
            </a:avLst>
          </a:prstGeom>
          <a:solidFill>
            <a:srgbClr val="F4F2FB"/>
          </a:solidFill>
          <a:ln/>
        </p:spPr>
      </p:sp>
      <p:sp>
        <p:nvSpPr>
          <p:cNvPr id="10" name="Shape 8"/>
          <p:cNvSpPr/>
          <p:nvPr/>
        </p:nvSpPr>
        <p:spPr>
          <a:xfrm>
            <a:off x="868680" y="3172968"/>
            <a:ext cx="457200" cy="457200"/>
          </a:xfrm>
          <a:prstGeom prst="ellipse">
            <a:avLst/>
          </a:prstGeom>
          <a:solidFill>
            <a:srgbClr val="00D4C8"/>
          </a:solidFill>
          <a:ln/>
        </p:spPr>
      </p:sp>
      <p:sp>
        <p:nvSpPr>
          <p:cNvPr id="11" name="Text 9"/>
          <p:cNvSpPr/>
          <p:nvPr/>
        </p:nvSpPr>
        <p:spPr>
          <a:xfrm>
            <a:off x="868680" y="3172968"/>
            <a:ext cx="457200" cy="457200"/>
          </a:xfrm>
          <a:prstGeom prst="rect">
            <a:avLst/>
          </a:prstGeom>
          <a:noFill/>
          <a:ln/>
        </p:spPr>
        <p:txBody>
          <a:bodyPr wrap="square" rtlCol="0" anchor="ctr"/>
          <a:lstStyle/>
          <a:p>
            <a:pPr marL="0" indent="0" algn="ctr">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2" name="Text 10"/>
          <p:cNvSpPr/>
          <p:nvPr/>
        </p:nvSpPr>
        <p:spPr>
          <a:xfrm>
            <a:off x="1508760" y="3017520"/>
            <a:ext cx="978408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Deep Learning for Matching</a:t>
            </a:r>
            <a:endParaRPr lang="en-US" sz="1350" dirty="0"/>
          </a:p>
        </p:txBody>
      </p:sp>
      <p:sp>
        <p:nvSpPr>
          <p:cNvPr id="13" name="Text 11"/>
          <p:cNvSpPr/>
          <p:nvPr/>
        </p:nvSpPr>
        <p:spPr>
          <a:xfrm>
            <a:off x="1508760" y="3346704"/>
            <a:ext cx="9784080" cy="502920"/>
          </a:xfrm>
          <a:prstGeom prst="rect">
            <a:avLst/>
          </a:prstGeom>
          <a:noFill/>
          <a:ln/>
        </p:spPr>
        <p:txBody>
          <a:bodyPr wrap="square" rtlCol="0" anchor="ctr"/>
          <a:lstStyle/>
          <a:p>
            <a:pPr marL="0" indent="0">
              <a:lnSpc>
                <a:spcPct val="115000"/>
              </a:lnSpc>
              <a:buNone/>
            </a:pPr>
            <a:r>
              <a:rPr lang="en-US" sz="1050" dirty="0">
                <a:solidFill>
                  <a:srgbClr val="6E6690"/>
                </a:solidFill>
                <a:latin typeface="Arial" pitchFamily="34" charset="0"/>
                <a:ea typeface="Arial" pitchFamily="34" charset="-122"/>
                <a:cs typeface="Arial" pitchFamily="34" charset="-120"/>
              </a:rPr>
              <a:t>Newer methods use AI models to compare product titles and descriptions more accurately than simple text matching.</a:t>
            </a:r>
            <a:endParaRPr lang="en-US" sz="1050" dirty="0"/>
          </a:p>
        </p:txBody>
      </p:sp>
      <p:sp>
        <p:nvSpPr>
          <p:cNvPr id="14" name="Shape 12"/>
          <p:cNvSpPr/>
          <p:nvPr/>
        </p:nvSpPr>
        <p:spPr>
          <a:xfrm>
            <a:off x="640080" y="4069080"/>
            <a:ext cx="10881360" cy="960120"/>
          </a:xfrm>
          <a:prstGeom prst="roundRect">
            <a:avLst>
              <a:gd name="adj" fmla="val 7619"/>
            </a:avLst>
          </a:prstGeom>
          <a:solidFill>
            <a:srgbClr val="F4F2FB"/>
          </a:solidFill>
          <a:ln/>
        </p:spPr>
      </p:sp>
      <p:sp>
        <p:nvSpPr>
          <p:cNvPr id="15" name="Shape 13"/>
          <p:cNvSpPr/>
          <p:nvPr/>
        </p:nvSpPr>
        <p:spPr>
          <a:xfrm>
            <a:off x="868680" y="4315968"/>
            <a:ext cx="457200" cy="457200"/>
          </a:xfrm>
          <a:prstGeom prst="ellipse">
            <a:avLst/>
          </a:prstGeom>
          <a:solidFill>
            <a:srgbClr val="00D4C8"/>
          </a:solidFill>
          <a:ln/>
        </p:spPr>
      </p:sp>
      <p:sp>
        <p:nvSpPr>
          <p:cNvPr id="16" name="Text 14"/>
          <p:cNvSpPr/>
          <p:nvPr/>
        </p:nvSpPr>
        <p:spPr>
          <a:xfrm>
            <a:off x="868680" y="4315968"/>
            <a:ext cx="457200" cy="457200"/>
          </a:xfrm>
          <a:prstGeom prst="rect">
            <a:avLst/>
          </a:prstGeom>
          <a:noFill/>
          <a:ln/>
        </p:spPr>
        <p:txBody>
          <a:bodyPr wrap="square" rtlCol="0" anchor="ctr"/>
          <a:lstStyle/>
          <a:p>
            <a:pPr marL="0" indent="0" algn="ctr">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1508760" y="4160520"/>
            <a:ext cx="978408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E-Commerce Specific Studies</a:t>
            </a:r>
            <a:endParaRPr lang="en-US" sz="1350" dirty="0"/>
          </a:p>
        </p:txBody>
      </p:sp>
      <p:sp>
        <p:nvSpPr>
          <p:cNvPr id="18" name="Text 16"/>
          <p:cNvSpPr/>
          <p:nvPr/>
        </p:nvSpPr>
        <p:spPr>
          <a:xfrm>
            <a:off x="1508760" y="4489704"/>
            <a:ext cx="9784080" cy="502920"/>
          </a:xfrm>
          <a:prstGeom prst="rect">
            <a:avLst/>
          </a:prstGeom>
          <a:noFill/>
          <a:ln/>
        </p:spPr>
        <p:txBody>
          <a:bodyPr wrap="square" rtlCol="0" anchor="ctr"/>
          <a:lstStyle/>
          <a:p>
            <a:pPr marL="0" indent="0">
              <a:lnSpc>
                <a:spcPct val="115000"/>
              </a:lnSpc>
              <a:buNone/>
            </a:pPr>
            <a:r>
              <a:rPr lang="en-US" sz="1050" dirty="0">
                <a:solidFill>
                  <a:srgbClr val="6E6690"/>
                </a:solidFill>
                <a:latin typeface="Arial" pitchFamily="34" charset="0"/>
                <a:ea typeface="Arial" pitchFamily="34" charset="-122"/>
                <a:cs typeface="Arial" pitchFamily="34" charset="-120"/>
              </a:rPr>
              <a:t>Studies on sites like Amazon and eBay show that using both product details (brand, category) and text together works best.</a:t>
            </a:r>
            <a:endParaRPr lang="en-US" sz="1050" dirty="0"/>
          </a:p>
        </p:txBody>
      </p:sp>
      <p:sp>
        <p:nvSpPr>
          <p:cNvPr id="19" name="Shape 17"/>
          <p:cNvSpPr/>
          <p:nvPr/>
        </p:nvSpPr>
        <p:spPr>
          <a:xfrm>
            <a:off x="640080" y="5212080"/>
            <a:ext cx="10881360" cy="960120"/>
          </a:xfrm>
          <a:prstGeom prst="roundRect">
            <a:avLst>
              <a:gd name="adj" fmla="val 7619"/>
            </a:avLst>
          </a:prstGeom>
          <a:solidFill>
            <a:srgbClr val="F4F2FB"/>
          </a:solidFill>
          <a:ln/>
        </p:spPr>
      </p:sp>
      <p:sp>
        <p:nvSpPr>
          <p:cNvPr id="20" name="Shape 18"/>
          <p:cNvSpPr/>
          <p:nvPr/>
        </p:nvSpPr>
        <p:spPr>
          <a:xfrm>
            <a:off x="868680" y="5458968"/>
            <a:ext cx="457200" cy="457200"/>
          </a:xfrm>
          <a:prstGeom prst="ellipse">
            <a:avLst/>
          </a:prstGeom>
          <a:solidFill>
            <a:srgbClr val="00D4C8"/>
          </a:solidFill>
          <a:ln/>
        </p:spPr>
      </p:sp>
      <p:sp>
        <p:nvSpPr>
          <p:cNvPr id="21" name="Text 19"/>
          <p:cNvSpPr/>
          <p:nvPr/>
        </p:nvSpPr>
        <p:spPr>
          <a:xfrm>
            <a:off x="868680" y="5458968"/>
            <a:ext cx="457200" cy="457200"/>
          </a:xfrm>
          <a:prstGeom prst="rect">
            <a:avLst/>
          </a:prstGeom>
          <a:noFill/>
          <a:ln/>
        </p:spPr>
        <p:txBody>
          <a:bodyPr wrap="square" rtlCol="0" anchor="ctr"/>
          <a:lstStyle/>
          <a:p>
            <a:pPr marL="0" indent="0" algn="ctr">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1508760" y="5303520"/>
            <a:ext cx="9784080" cy="320040"/>
          </a:xfrm>
          <a:prstGeom prst="rect">
            <a:avLst/>
          </a:prstGeom>
          <a:noFill/>
          <a:ln/>
        </p:spPr>
        <p:txBody>
          <a:bodyPr wrap="square" rtlCol="0" anchor="ctr"/>
          <a:lstStyle/>
          <a:p>
            <a:pPr marL="0" indent="0">
              <a:buNone/>
            </a:pPr>
            <a:r>
              <a:rPr lang="en-US" sz="1350" b="1" dirty="0">
                <a:solidFill>
                  <a:srgbClr val="241C4E"/>
                </a:solidFill>
                <a:latin typeface="Arial" pitchFamily="34" charset="0"/>
                <a:ea typeface="Arial" pitchFamily="34" charset="-122"/>
                <a:cs typeface="Arial" pitchFamily="34" charset="-120"/>
              </a:rPr>
              <a:t>Blocking &amp; Scalability</a:t>
            </a:r>
            <a:endParaRPr lang="en-US" sz="1350" dirty="0"/>
          </a:p>
        </p:txBody>
      </p:sp>
      <p:sp>
        <p:nvSpPr>
          <p:cNvPr id="23" name="Text 21"/>
          <p:cNvSpPr/>
          <p:nvPr/>
        </p:nvSpPr>
        <p:spPr>
          <a:xfrm>
            <a:off x="1508760" y="5632704"/>
            <a:ext cx="9784080" cy="502920"/>
          </a:xfrm>
          <a:prstGeom prst="rect">
            <a:avLst/>
          </a:prstGeom>
          <a:noFill/>
          <a:ln/>
        </p:spPr>
        <p:txBody>
          <a:bodyPr wrap="square" rtlCol="0" anchor="ctr"/>
          <a:lstStyle/>
          <a:p>
            <a:pPr marL="0" indent="0">
              <a:lnSpc>
                <a:spcPct val="115000"/>
              </a:lnSpc>
              <a:buNone/>
            </a:pPr>
            <a:r>
              <a:rPr lang="en-US" sz="1050" dirty="0">
                <a:solidFill>
                  <a:srgbClr val="6E6690"/>
                </a:solidFill>
                <a:latin typeface="Arial" pitchFamily="34" charset="0"/>
                <a:ea typeface="Arial" pitchFamily="34" charset="-122"/>
                <a:cs typeface="Arial" pitchFamily="34" charset="-120"/>
              </a:rPr>
              <a:t>Special techniques group similar items first, so we don't have to compare every listing with every other one — this makes it fast.</a:t>
            </a:r>
            <a:endParaRPr lang="en-US" sz="1050" dirty="0"/>
          </a:p>
        </p:txBody>
      </p:sp>
      <p:sp>
        <p:nvSpPr>
          <p:cNvPr id="24" name="Text 2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690"/>
                </a:solidFill>
                <a:latin typeface="Arial" pitchFamily="34" charset="0"/>
                <a:ea typeface="Arial" pitchFamily="34" charset="-122"/>
                <a:cs typeface="Arial" pitchFamily="34" charset="-120"/>
              </a:rPr>
              <a:t>E-Commerce Product Entity-Resolution &amp; Matching Platform</a:t>
            </a:r>
            <a:endParaRPr lang="en-US" sz="900" dirty="0"/>
          </a:p>
        </p:txBody>
      </p:sp>
      <p:sp>
        <p:nvSpPr>
          <p:cNvPr id="25" name="Text 2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E669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241C4E"/>
        </a:solidFill>
        <a:effectLst/>
      </p:bgPr>
    </p:bg>
    <p:spTree>
      <p:nvGrpSpPr>
        <p:cNvPr id="1" name=""/>
        <p:cNvGrpSpPr/>
        <p:nvPr/>
      </p:nvGrpSpPr>
      <p:grpSpPr>
        <a:xfrm>
          <a:off x="0" y="0"/>
          <a:ext cx="0" cy="0"/>
          <a:chOff x="0" y="0"/>
          <a:chExt cx="0" cy="0"/>
        </a:xfrm>
      </p:grpSpPr>
      <p:sp>
        <p:nvSpPr>
          <p:cNvPr id="4" name="Shape 2"/>
          <p:cNvSpPr/>
          <p:nvPr/>
        </p:nvSpPr>
        <p:spPr>
          <a:xfrm>
            <a:off x="571500" y="365760"/>
            <a:ext cx="480060" cy="480060"/>
          </a:xfrm>
          <a:prstGeom prst="ellipse">
            <a:avLst/>
          </a:prstGeom>
          <a:ln w="25400">
            <a:solidFill>
              <a:srgbClr val="FFFFFF"/>
            </a:solidFill>
            <a:prstDash val="solid"/>
          </a:ln>
        </p:spPr>
      </p:sp>
      <p:sp>
        <p:nvSpPr>
          <p:cNvPr id="5" name="Shape 3"/>
          <p:cNvSpPr/>
          <p:nvPr/>
        </p:nvSpPr>
        <p:spPr>
          <a:xfrm>
            <a:off x="1051560" y="200660"/>
            <a:ext cx="480060" cy="480060"/>
          </a:xfrm>
          <a:prstGeom prst="ellipse">
            <a:avLst/>
          </a:prstGeom>
          <a:ln w="25400">
            <a:solidFill>
              <a:srgbClr val="FFFFFF"/>
            </a:solidFill>
            <a:prstDash val="solid"/>
          </a:ln>
        </p:spPr>
      </p:sp>
      <p:sp>
        <p:nvSpPr>
          <p:cNvPr id="6" name="Shape 4"/>
          <p:cNvSpPr/>
          <p:nvPr/>
        </p:nvSpPr>
        <p:spPr>
          <a:xfrm>
            <a:off x="1737360" y="502920"/>
            <a:ext cx="582930" cy="582930"/>
          </a:xfrm>
          <a:prstGeom prst="ellipse">
            <a:avLst/>
          </a:prstGeom>
          <a:solidFill>
            <a:srgbClr val="00D4C8"/>
          </a:solidFill>
          <a:ln/>
        </p:spPr>
      </p:sp>
      <p:sp>
        <p:nvSpPr>
          <p:cNvPr id="7" name="Kicker"/>
          <p:cNvSpPr/>
          <p:nvPr/>
        </p:nvSpPr>
        <p:spPr>
          <a:xfrm>
            <a:off x="1596000" y="1005840"/>
            <a:ext cx="9000000" cy="365760"/>
          </a:xfrm>
          <a:prstGeom prst="rect">
            <a:avLst/>
          </a:prstGeom>
          <a:noFill/>
          <a:ln/>
        </p:spPr>
        <p:txBody>
          <a:bodyPr wrap="square" rtlCol="0" anchor="ctr"/>
          <a:lstStyle/>
          <a:p>
            <a:pPr marL="0" indent="0" algn="ctr">
              <a:buNone/>
            </a:pPr>
            <a:r>
              <a:rPr lang="en-US" sz="1300" b="1" spc="300" dirty="0">
                <a:solidFill>
                  <a:srgbClr val="00D4C8"/>
                </a:solidFill>
                <a:latin typeface="Arial" pitchFamily="34" charset="0"/>
                <a:ea typeface="Arial" pitchFamily="34" charset="-122"/>
                <a:cs typeface="Arial" pitchFamily="34" charset="-120"/>
              </a:rPr>
              <a:t>THAT’S A WRAP</a:t>
            </a:r>
            <a:endParaRPr lang="en-US" sz="1300" dirty="0"/>
          </a:p>
        </p:txBody>
      </p:sp>
      <p:sp>
        <p:nvSpPr>
          <p:cNvPr id="8" name="Title"/>
          <p:cNvSpPr/>
          <p:nvPr/>
        </p:nvSpPr>
        <p:spPr>
          <a:xfrm>
            <a:off x="1596000" y="1440180"/>
            <a:ext cx="9000000" cy="9144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9" name="Tagline"/>
          <p:cNvSpPr/>
          <p:nvPr/>
        </p:nvSpPr>
        <p:spPr>
          <a:xfrm>
            <a:off x="2196000" y="2377440"/>
            <a:ext cx="7800000" cy="457200"/>
          </a:xfrm>
          <a:prstGeom prst="rect">
            <a:avLst/>
          </a:prstGeom>
          <a:noFill/>
          <a:ln/>
        </p:spPr>
        <p:txBody>
          <a:bodyPr wrap="square" rtlCol="0" anchor="ctr"/>
          <a:lstStyle/>
          <a:p>
            <a:pPr marL="0" indent="0" algn="ctr">
              <a:buNone/>
            </a:pPr>
            <a:r>
              <a:rPr lang="en-US" sz="1500" i="1" dirty="0">
                <a:solidFill>
                  <a:srgbClr val="D6CFF0"/>
                </a:solidFill>
                <a:latin typeface="Arial" pitchFamily="34" charset="0"/>
                <a:ea typeface="Arial" pitchFamily="34" charset="-122"/>
                <a:cs typeface="Arial" pitchFamily="34" charset="-120"/>
              </a:rPr>
              <a:t>Different listings, one truth — thanks for matching our energy today.</a:t>
            </a:r>
            <a:endParaRPr lang="en-US" sz="1500" dirty="0"/>
          </a:p>
        </p:txBody>
      </p:sp>
      <p:sp>
        <p:nvSpPr>
          <p:cNvPr id="10" name="Divider"/>
          <p:cNvSpPr/>
          <p:nvPr/>
        </p:nvSpPr>
        <p:spPr>
          <a:xfrm>
            <a:off x="5644260" y="3078480"/>
            <a:ext cx="903480" cy="18288"/>
          </a:xfrm>
          <a:prstGeom prst="rect">
            <a:avLst/>
          </a:prstGeom>
          <a:solidFill>
            <a:srgbClr val="00D4C8"/>
          </a:solidFill>
          <a:ln/>
        </p:spPr>
      </p:sp>
      <p:sp>
        <p:nvSpPr>
          <p:cNvPr id="11" name="Q&amp;A"/>
          <p:cNvSpPr/>
          <p:nvPr/>
        </p:nvSpPr>
        <p:spPr>
          <a:xfrm>
            <a:off x="1596000" y="3291840"/>
            <a:ext cx="9000000" cy="3657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Questions &amp; Discussion</a:t>
            </a:r>
            <a:endParaRPr lang="en-US" sz="1600" dirty="0"/>
          </a:p>
        </p:txBody>
      </p:sp>
      <p:sp>
        <p:nvSpPr>
          <p:cNvPr id="12" name="Card1"/>
          <p:cNvSpPr/>
          <p:nvPr/>
        </p:nvSpPr>
        <p:spPr>
          <a:xfrm>
            <a:off x="3383280" y="3931920"/>
            <a:ext cx="2560320" cy="1600200"/>
          </a:xfrm>
          <a:prstGeom prst="roundRect">
            <a:avLst>
              <a:gd name="adj" fmla="val 6000"/>
            </a:avLst>
          </a:prstGeom>
          <a:solidFill>
            <a:srgbClr val="332A64"/>
          </a:solidFill>
          <a:ln/>
        </p:spPr>
      </p:sp>
      <p:sp>
        <p:nvSpPr>
          <p:cNvPr id="13" name="Avatar1"/>
          <p:cNvSpPr/>
          <p:nvPr/>
        </p:nvSpPr>
        <p:spPr>
          <a:xfrm>
            <a:off x="4359893" y="4114800"/>
            <a:ext cx="609600" cy="609600"/>
          </a:xfrm>
          <a:prstGeom prst="ellipse">
            <a:avLst/>
          </a:prstGeom>
          <a:solidFill>
            <a:srgbClr val="6C4CE0"/>
          </a:solidFill>
          <a:ln/>
        </p:spPr>
        <p:txBody>
          <a:bodyPr wrap="non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RP</a:t>
            </a:r>
            <a:endParaRPr lang="en-US" sz="1400" dirty="0"/>
          </a:p>
        </p:txBody>
      </p:sp>
      <p:sp>
        <p:nvSpPr>
          <p:cNvPr id="14" name="Name1"/>
          <p:cNvSpPr/>
          <p:nvPr/>
        </p:nvSpPr>
        <p:spPr>
          <a:xfrm>
            <a:off x="3383280" y="4785360"/>
            <a:ext cx="25603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Rayabharapu Pranav</a:t>
            </a:r>
            <a:endParaRPr lang="en-US" sz="1300" dirty="0"/>
          </a:p>
        </p:txBody>
      </p:sp>
      <p:sp>
        <p:nvSpPr>
          <p:cNvPr id="15" name="Roll1"/>
          <p:cNvSpPr/>
          <p:nvPr/>
        </p:nvSpPr>
        <p:spPr>
          <a:xfrm>
            <a:off x="3383280" y="5105400"/>
            <a:ext cx="2560320" cy="274320"/>
          </a:xfrm>
          <a:prstGeom prst="rect">
            <a:avLst/>
          </a:prstGeom>
          <a:noFill/>
          <a:ln/>
        </p:spPr>
        <p:txBody>
          <a:bodyPr wrap="square" rtlCol="0" anchor="ctr"/>
          <a:lstStyle/>
          <a:p>
            <a:pPr marL="0" indent="0" algn="ctr">
              <a:buNone/>
            </a:pPr>
            <a:r>
              <a:rPr lang="en-US" sz="1100" dirty="0">
                <a:solidFill>
                  <a:srgbClr val="D6CFF0"/>
                </a:solidFill>
                <a:latin typeface="Arial" pitchFamily="34" charset="0"/>
                <a:ea typeface="Arial" pitchFamily="34" charset="-122"/>
                <a:cs typeface="Arial" pitchFamily="34" charset="-120"/>
              </a:rPr>
              <a:t>2520090109</a:t>
            </a:r>
            <a:endParaRPr lang="en-US" sz="1100" dirty="0"/>
          </a:p>
        </p:txBody>
      </p:sp>
      <p:sp>
        <p:nvSpPr>
          <p:cNvPr id="16" name="Card2"/>
          <p:cNvSpPr/>
          <p:nvPr/>
        </p:nvSpPr>
        <p:spPr>
          <a:xfrm>
            <a:off x="6248400" y="3931920"/>
            <a:ext cx="2560320" cy="1600200"/>
          </a:xfrm>
          <a:prstGeom prst="roundRect">
            <a:avLst>
              <a:gd name="adj" fmla="val 6000"/>
            </a:avLst>
          </a:prstGeom>
          <a:solidFill>
            <a:srgbClr val="332A64"/>
          </a:solidFill>
          <a:ln/>
        </p:spPr>
      </p:sp>
      <p:sp>
        <p:nvSpPr>
          <p:cNvPr id="17" name="Avatar2"/>
          <p:cNvSpPr/>
          <p:nvPr/>
        </p:nvSpPr>
        <p:spPr>
          <a:xfrm>
            <a:off x="7225013" y="4114800"/>
            <a:ext cx="609600" cy="609600"/>
          </a:xfrm>
          <a:prstGeom prst="ellipse">
            <a:avLst/>
          </a:prstGeom>
          <a:solidFill>
            <a:srgbClr val="00D4C8"/>
          </a:solidFill>
          <a:ln/>
        </p:spPr>
        <p:txBody>
          <a:bodyPr wrap="none" rtlCol="0" anchor="ctr"/>
          <a:lstStyle/>
          <a:p>
            <a:pPr marL="0" indent="0" algn="ctr">
              <a:buNone/>
            </a:pPr>
            <a:r>
              <a:rPr lang="en-US" sz="1400" b="1" dirty="0">
                <a:solidFill>
                  <a:srgbClr val="241C4E"/>
                </a:solidFill>
                <a:latin typeface="Arial" pitchFamily="34" charset="0"/>
                <a:ea typeface="Arial" pitchFamily="34" charset="-122"/>
                <a:cs typeface="Arial" pitchFamily="34" charset="-120"/>
              </a:rPr>
              <a:t>BA</a:t>
            </a:r>
            <a:endParaRPr lang="en-US" sz="1400" dirty="0"/>
          </a:p>
        </p:txBody>
      </p:sp>
      <p:sp>
        <p:nvSpPr>
          <p:cNvPr id="18" name="Name2"/>
          <p:cNvSpPr/>
          <p:nvPr/>
        </p:nvSpPr>
        <p:spPr>
          <a:xfrm>
            <a:off x="6248400" y="4785360"/>
            <a:ext cx="25603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Burramukku Aakash</a:t>
            </a:r>
            <a:endParaRPr lang="en-US" sz="1300" dirty="0"/>
          </a:p>
        </p:txBody>
      </p:sp>
      <p:sp>
        <p:nvSpPr>
          <p:cNvPr id="19" name="Roll2"/>
          <p:cNvSpPr/>
          <p:nvPr/>
        </p:nvSpPr>
        <p:spPr>
          <a:xfrm>
            <a:off x="6248400" y="5105400"/>
            <a:ext cx="2560320" cy="274320"/>
          </a:xfrm>
          <a:prstGeom prst="rect">
            <a:avLst/>
          </a:prstGeom>
          <a:noFill/>
          <a:ln/>
        </p:spPr>
        <p:txBody>
          <a:bodyPr wrap="square" rtlCol="0" anchor="ctr"/>
          <a:lstStyle/>
          <a:p>
            <a:pPr marL="0" indent="0" algn="ctr">
              <a:buNone/>
            </a:pPr>
            <a:r>
              <a:rPr lang="en-US" sz="1100" dirty="0">
                <a:solidFill>
                  <a:srgbClr val="D6CFF0"/>
                </a:solidFill>
                <a:latin typeface="Arial" pitchFamily="34" charset="0"/>
                <a:ea typeface="Arial" pitchFamily="34" charset="-122"/>
                <a:cs typeface="Arial" pitchFamily="34" charset="-120"/>
              </a:rPr>
              <a:t>2520080039</a:t>
            </a:r>
            <a:endParaRPr lang="en-US" sz="1100" dirty="0"/>
          </a:p>
        </p:txBody>
      </p:sp>
      <p:sp>
        <p:nvSpPr>
          <p:cNvPr id="20" name="Footer"/>
          <p:cNvSpPr/>
          <p:nvPr/>
        </p:nvSpPr>
        <p:spPr>
          <a:xfrm>
            <a:off x="1596000" y="5943600"/>
            <a:ext cx="9000000" cy="548640"/>
          </a:xfrm>
          <a:prstGeom prst="rect">
            <a:avLst/>
          </a:prstGeom>
          <a:noFill/>
          <a:ln/>
        </p:spPr>
        <p:txBody>
          <a:bodyPr wrap="square" rtlCol="0" anchor="ctr"/>
          <a:lstStyle/>
          <a:p>
            <a:pPr marL="0" indent="0" algn="ctr">
              <a:buNone/>
            </a:pPr>
            <a:r>
              <a:rPr lang="en-US" sz="1100" dirty="0">
                <a:solidFill>
                  <a:srgbClr val="D6CFF0"/>
                </a:solidFill>
                <a:latin typeface="Arial" pitchFamily="34" charset="0"/>
                <a:ea typeface="Arial" pitchFamily="34" charset="-122"/>
                <a:cs typeface="Arial" pitchFamily="34" charset="-120"/>
              </a:rPr>
              <a:t>Team 7  ·  Section 10  ·  Guide: Ms. K. Chandusha, Asst. Prof., CS&amp;IT</a:t>
            </a:r>
            <a:endParaRPr lang="en-US" sz="1100" dirty="0"/>
          </a:p>
          <a:p>
            <a:pPr marL="0" indent="0" algn="ctr">
              <a:buNone/>
            </a:pPr>
            <a:r>
              <a:rPr lang="en-US" sz="1000" dirty="0">
                <a:solidFill>
                  <a:srgbClr val="8A7FBF"/>
                </a:solidFill>
                <a:latin typeface="Arial" pitchFamily="34" charset="0"/>
                <a:ea typeface="Arial" pitchFamily="34" charset="-122"/>
                <a:cs typeface="Arial" pitchFamily="34" charset="-120"/>
              </a:rPr>
              <a:t>Data Structures and Algorithms-3 (25CS2103E)  |  A.Y. 2026-2027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822</Words>
  <Application>Microsoft Office PowerPoint</Application>
  <PresentationFormat>Widescreen</PresentationFormat>
  <Paragraphs>179</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Aakash Burramukku</cp:lastModifiedBy>
  <cp:revision>5</cp:revision>
  <dcterms:created xsi:type="dcterms:W3CDTF">2026-08-18T03:37:55Z</dcterms:created>
  <dcterms:modified xsi:type="dcterms:W3CDTF">2026-08-25T04:31:24Z</dcterms:modified>
</cp:coreProperties>
</file>